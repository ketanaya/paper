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8"/>
  </p:notesMasterIdLst>
  <p:sldIdLst>
    <p:sldId id="256" r:id="rId2"/>
    <p:sldId id="258" r:id="rId3"/>
    <p:sldId id="259" r:id="rId4"/>
    <p:sldId id="260" r:id="rId5"/>
    <p:sldId id="261" r:id="rId6"/>
    <p:sldId id="262" r:id="rId7"/>
    <p:sldId id="263" r:id="rId8"/>
    <p:sldId id="264" r:id="rId9"/>
    <p:sldId id="265" r:id="rId10"/>
    <p:sldId id="267" r:id="rId11"/>
    <p:sldId id="266" r:id="rId12"/>
    <p:sldId id="268" r:id="rId13"/>
    <p:sldId id="270" r:id="rId14"/>
    <p:sldId id="269" r:id="rId15"/>
    <p:sldId id="275" r:id="rId16"/>
    <p:sldId id="276" r:id="rId17"/>
    <p:sldId id="277" r:id="rId18"/>
    <p:sldId id="278" r:id="rId19"/>
    <p:sldId id="279" r:id="rId20"/>
    <p:sldId id="280" r:id="rId21"/>
    <p:sldId id="283" r:id="rId22"/>
    <p:sldId id="284" r:id="rId23"/>
    <p:sldId id="281" r:id="rId24"/>
    <p:sldId id="282" r:id="rId25"/>
    <p:sldId id="271" r:id="rId26"/>
    <p:sldId id="272"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74" autoAdjust="0"/>
    <p:restoredTop sz="94678"/>
  </p:normalViewPr>
  <p:slideViewPr>
    <p:cSldViewPr snapToGrid="0" showGuides="1">
      <p:cViewPr varScale="1">
        <p:scale>
          <a:sx n="59" d="100"/>
          <a:sy n="59" d="100"/>
        </p:scale>
        <p:origin x="208" y="1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083E0-B250-4F8F-96D5-F7B821FF77D2}" type="datetimeFigureOut">
              <a:rPr kumimoji="1" lang="ja-JP" altLang="en-US" smtClean="0"/>
              <a:t>2025/10/13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696DE-6DB6-42A7-89A2-F0DBB6971B53}" type="slidenum">
              <a:rPr kumimoji="1" lang="ja-JP" altLang="en-US" smtClean="0"/>
              <a:t>‹#›</a:t>
            </a:fld>
            <a:endParaRPr kumimoji="1" lang="ja-JP" altLang="en-US"/>
          </a:p>
        </p:txBody>
      </p:sp>
    </p:spTree>
    <p:extLst>
      <p:ext uri="{BB962C8B-B14F-4D97-AF65-F5344CB8AC3E}">
        <p14:creationId xmlns:p14="http://schemas.microsoft.com/office/powerpoint/2010/main" val="42505038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期待値</a:t>
            </a:r>
            <a:r>
              <a:rPr kumimoji="1" lang="en-US" altLang="ja-JP"/>
              <a:t>(</a:t>
            </a:r>
            <a:r>
              <a:rPr kumimoji="1" lang="ja-JP" altLang="en-US"/>
              <a:t>平均</a:t>
            </a:r>
            <a:r>
              <a:rPr kumimoji="1" lang="en-US" altLang="ja-JP"/>
              <a:t>)</a:t>
            </a:r>
            <a:r>
              <a:rPr kumimoji="1" lang="ja-JP" altLang="en-US"/>
              <a:t>、ぶんさん、が不変で自己共分散が時点の差にのみ依存し、時点</a:t>
            </a:r>
            <a:r>
              <a:rPr kumimoji="1" lang="en-US" altLang="ja-JP"/>
              <a:t>t </a:t>
            </a:r>
            <a:r>
              <a:rPr kumimoji="1" lang="ja-JP" altLang="en-US"/>
              <a:t>に依存していない。</a:t>
            </a:r>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14</a:t>
            </a:fld>
            <a:endParaRPr kumimoji="1" lang="ja-JP" altLang="en-US"/>
          </a:p>
        </p:txBody>
      </p:sp>
    </p:spTree>
    <p:extLst>
      <p:ext uri="{BB962C8B-B14F-4D97-AF65-F5344CB8AC3E}">
        <p14:creationId xmlns:p14="http://schemas.microsoft.com/office/powerpoint/2010/main" val="3591153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ホワイトノイズは平均が</a:t>
            </a:r>
            <a:r>
              <a:rPr kumimoji="1" lang="en-US" altLang="ja-JP"/>
              <a:t>0</a:t>
            </a:r>
            <a:r>
              <a:rPr kumimoji="1" lang="ja-JP" altLang="en-US"/>
              <a:t>、分散が一定、異なる地点で相関がない</a:t>
            </a:r>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15</a:t>
            </a:fld>
            <a:endParaRPr kumimoji="1" lang="ja-JP" altLang="en-US"/>
          </a:p>
        </p:txBody>
      </p:sp>
    </p:spTree>
    <p:extLst>
      <p:ext uri="{BB962C8B-B14F-4D97-AF65-F5344CB8AC3E}">
        <p14:creationId xmlns:p14="http://schemas.microsoft.com/office/powerpoint/2010/main" val="484858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Beta1</a:t>
            </a:r>
            <a:r>
              <a:rPr kumimoji="1" lang="ja-JP" altLang="en-US"/>
              <a:t>が定数項で</a:t>
            </a:r>
            <a:r>
              <a:rPr kumimoji="1" lang="en-US" altLang="ja-JP"/>
              <a:t>beta2</a:t>
            </a:r>
            <a:r>
              <a:rPr kumimoji="1" lang="ja-JP" altLang="en-US"/>
              <a:t>がドリフト項　このモデルは</a:t>
            </a:r>
            <a:r>
              <a:rPr kumimoji="1" lang="en-US" altLang="ja-JP"/>
              <a:t>tau</a:t>
            </a:r>
            <a:r>
              <a:rPr kumimoji="1" lang="ja-JP" altLang="en-US"/>
              <a:t>統計量を出すための式で</a:t>
            </a:r>
            <a:r>
              <a:rPr kumimoji="1" lang="en-US" altLang="ja-JP"/>
              <a:t>phi</a:t>
            </a:r>
            <a:r>
              <a:rPr kumimoji="1" lang="ja-JP" altLang="en-US"/>
              <a:t>統計量は</a:t>
            </a:r>
            <a:r>
              <a:rPr kumimoji="1" lang="en-US" altLang="ja-JP"/>
              <a:t>trend</a:t>
            </a:r>
            <a:r>
              <a:rPr kumimoji="1" lang="ja-JP" altLang="en-US"/>
              <a:t>モデルの場合、ろー</a:t>
            </a:r>
            <a:r>
              <a:rPr kumimoji="1" lang="en-US" altLang="ja-JP"/>
              <a:t>=1 beta2=0,drift</a:t>
            </a:r>
            <a:r>
              <a:rPr kumimoji="1" lang="ja-JP" altLang="en-US"/>
              <a:t>はろー</a:t>
            </a:r>
            <a:r>
              <a:rPr kumimoji="1" lang="en-US" altLang="ja-JP"/>
              <a:t>=1 beta1=0</a:t>
            </a:r>
            <a:r>
              <a:rPr kumimoji="1" lang="ja-JP" altLang="en-US"/>
              <a:t>の制約を加えたモデルで出せる　</a:t>
            </a:r>
            <a:r>
              <a:rPr kumimoji="1" lang="en-US" altLang="ja-JP"/>
              <a:t>tau</a:t>
            </a:r>
            <a:r>
              <a:rPr kumimoji="1" lang="ja-JP" altLang="en-US"/>
              <a:t>検定統計量に基づく</a:t>
            </a:r>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21</a:t>
            </a:fld>
            <a:endParaRPr kumimoji="1" lang="ja-JP" altLang="en-US"/>
          </a:p>
        </p:txBody>
      </p:sp>
    </p:spTree>
    <p:extLst>
      <p:ext uri="{BB962C8B-B14F-4D97-AF65-F5344CB8AC3E}">
        <p14:creationId xmlns:p14="http://schemas.microsoft.com/office/powerpoint/2010/main" val="2431114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D8A916-F1B2-762B-EE2E-5063678FD876}"/>
              </a:ext>
            </a:extLst>
          </p:cNvPr>
          <p:cNvSpPr>
            <a:spLocks noGrp="1"/>
          </p:cNvSpPr>
          <p:nvPr>
            <p:ph type="ctrTitle" hasCustomPrompt="1"/>
          </p:nvPr>
        </p:nvSpPr>
        <p:spPr>
          <a:xfrm>
            <a:off x="812799" y="2798058"/>
            <a:ext cx="8453117" cy="615553"/>
          </a:xfrm>
          <a:prstGeom prst="rect">
            <a:avLst/>
          </a:prstGeom>
        </p:spPr>
        <p:txBody>
          <a:bodyPr wrap="square" lIns="0" tIns="0" rIns="0" bIns="0" anchor="b">
            <a:spAutoFit/>
          </a:bodyPr>
          <a:lstStyle>
            <a:lvl1pPr algn="l">
              <a:lnSpc>
                <a:spcPct val="100000"/>
              </a:lnSpc>
              <a:defRPr sz="4000"/>
            </a:lvl1pPr>
          </a:lstStyle>
          <a:p>
            <a:r>
              <a:rPr kumimoji="1" lang="ja-JP" altLang="en-US" dirty="0"/>
              <a:t>タイトル</a:t>
            </a:r>
          </a:p>
        </p:txBody>
      </p:sp>
      <p:sp>
        <p:nvSpPr>
          <p:cNvPr id="3" name="字幕 2">
            <a:extLst>
              <a:ext uri="{FF2B5EF4-FFF2-40B4-BE49-F238E27FC236}">
                <a16:creationId xmlns:a16="http://schemas.microsoft.com/office/drawing/2014/main" id="{48917268-1632-DB46-668D-E3FAE041D56C}"/>
              </a:ext>
            </a:extLst>
          </p:cNvPr>
          <p:cNvSpPr>
            <a:spLocks noGrp="1"/>
          </p:cNvSpPr>
          <p:nvPr>
            <p:ph type="subTitle" idx="1" hasCustomPrompt="1"/>
          </p:nvPr>
        </p:nvSpPr>
        <p:spPr>
          <a:xfrm>
            <a:off x="841827" y="3716338"/>
            <a:ext cx="8453117" cy="215444"/>
          </a:xfrm>
          <a:prstGeom prst="rect">
            <a:avLst/>
          </a:prstGeom>
        </p:spPr>
        <p:txBody>
          <a:bodyPr wrap="square" lIns="0" tIns="0" rIns="0" bIns="0" anchor="ctr">
            <a:spAutoFit/>
          </a:bodyPr>
          <a:lstStyle>
            <a:lvl1pPr marL="0" indent="0" algn="l">
              <a:lnSpc>
                <a:spcPct val="100000"/>
              </a:lnSpc>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社名</a:t>
            </a:r>
          </a:p>
        </p:txBody>
      </p:sp>
      <p:cxnSp>
        <p:nvCxnSpPr>
          <p:cNvPr id="8" name="直線コネクタ 7">
            <a:extLst>
              <a:ext uri="{FF2B5EF4-FFF2-40B4-BE49-F238E27FC236}">
                <a16:creationId xmlns:a16="http://schemas.microsoft.com/office/drawing/2014/main" id="{7601A692-65C8-7432-6169-705297F8E5FF}"/>
              </a:ext>
            </a:extLst>
          </p:cNvPr>
          <p:cNvCxnSpPr/>
          <p:nvPr userDrawn="1"/>
        </p:nvCxnSpPr>
        <p:spPr>
          <a:xfrm>
            <a:off x="215900" y="0"/>
            <a:ext cx="0" cy="68580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テキスト プレースホルダー 10">
            <a:extLst>
              <a:ext uri="{FF2B5EF4-FFF2-40B4-BE49-F238E27FC236}">
                <a16:creationId xmlns:a16="http://schemas.microsoft.com/office/drawing/2014/main" id="{E64C5FFD-B300-4DCE-0865-7AB09C76B70F}"/>
              </a:ext>
            </a:extLst>
          </p:cNvPr>
          <p:cNvSpPr>
            <a:spLocks noGrp="1"/>
          </p:cNvSpPr>
          <p:nvPr>
            <p:ph type="body" sz="quarter" idx="10" hasCustomPrompt="1"/>
          </p:nvPr>
        </p:nvSpPr>
        <p:spPr>
          <a:xfrm>
            <a:off x="841827" y="4025900"/>
            <a:ext cx="8453117" cy="169863"/>
          </a:xfrm>
          <a:prstGeom prst="rect">
            <a:avLst/>
          </a:prstGeom>
        </p:spPr>
        <p:txBody>
          <a:bodyPr lIns="0" tIns="0" rIns="0" bIns="0" anchor="ctr" anchorCtr="0"/>
          <a:lstStyle>
            <a:lvl1pPr marL="0" indent="0">
              <a:lnSpc>
                <a:spcPct val="100000"/>
              </a:lnSpc>
              <a:buNone/>
              <a:defRPr sz="900" spc="140" baseline="0">
                <a:solidFill>
                  <a:schemeClr val="tx1">
                    <a:lumMod val="50000"/>
                    <a:lumOff val="50000"/>
                  </a:schemeClr>
                </a:solidFill>
                <a:latin typeface="Yu Gothic UI" panose="020B0500000000000000" pitchFamily="50" charset="-128"/>
                <a:ea typeface="Yu Gothic UI" panose="020B0500000000000000" pitchFamily="50" charset="-128"/>
              </a:defRPr>
            </a:lvl1pPr>
            <a:lvl2pPr marL="457200" indent="0">
              <a:lnSpc>
                <a:spcPct val="100000"/>
              </a:lnSpc>
              <a:buFont typeface="Arial" panose="020B0604020202020204" pitchFamily="34" charset="0"/>
              <a:buNone/>
              <a:defRPr/>
            </a:lvl2pPr>
          </a:lstStyle>
          <a:p>
            <a:pPr lvl="0"/>
            <a:r>
              <a:rPr kumimoji="1" lang="en-US" altLang="ja-JP" dirty="0"/>
              <a:t>2024-XX-XX</a:t>
            </a:r>
            <a:endParaRPr kumimoji="1" lang="ja-JP" altLang="en-US" dirty="0"/>
          </a:p>
        </p:txBody>
      </p:sp>
      <p:sp>
        <p:nvSpPr>
          <p:cNvPr id="12" name="フッター プレースホルダー 11">
            <a:extLst>
              <a:ext uri="{FF2B5EF4-FFF2-40B4-BE49-F238E27FC236}">
                <a16:creationId xmlns:a16="http://schemas.microsoft.com/office/drawing/2014/main" id="{B2F4D7AB-75EC-E962-55BE-054672187170}"/>
              </a:ext>
            </a:extLst>
          </p:cNvPr>
          <p:cNvSpPr>
            <a:spLocks noGrp="1"/>
          </p:cNvSpPr>
          <p:nvPr>
            <p:ph type="ftr" sz="quarter" idx="11"/>
          </p:nvPr>
        </p:nvSpPr>
        <p:spPr/>
        <p:txBody>
          <a:bodyPr/>
          <a:lstStyle/>
          <a:p>
            <a:r>
              <a:rPr lang="en-US" altLang="ja-JP"/>
              <a:t>ICHIBAN SIMPLE template</a:t>
            </a:r>
            <a:endParaRPr lang="ja-JP" altLang="en-US" dirty="0"/>
          </a:p>
        </p:txBody>
      </p:sp>
      <p:sp>
        <p:nvSpPr>
          <p:cNvPr id="13" name="スライド番号プレースホルダー 12">
            <a:extLst>
              <a:ext uri="{FF2B5EF4-FFF2-40B4-BE49-F238E27FC236}">
                <a16:creationId xmlns:a16="http://schemas.microsoft.com/office/drawing/2014/main" id="{48D929AD-B8BA-DF3C-7325-B0F399FADA6A}"/>
              </a:ext>
            </a:extLst>
          </p:cNvPr>
          <p:cNvSpPr>
            <a:spLocks noGrp="1"/>
          </p:cNvSpPr>
          <p:nvPr>
            <p:ph type="sldNum" sz="quarter" idx="12"/>
          </p:nvPr>
        </p:nvSpPr>
        <p:spPr/>
        <p:txBody>
          <a:bodyPr/>
          <a:lstStyle/>
          <a:p>
            <a:fld id="{3B09FD7E-EA79-4AC9-B47C-47EE1A48B026}" type="slidenum">
              <a:rPr lang="ja-JP" altLang="en-US" smtClean="0"/>
              <a:pPr/>
              <a:t>‹#›</a:t>
            </a:fld>
            <a:endParaRPr lang="ja-JP" altLang="en-US"/>
          </a:p>
        </p:txBody>
      </p:sp>
    </p:spTree>
    <p:extLst>
      <p:ext uri="{BB962C8B-B14F-4D97-AF65-F5344CB8AC3E}">
        <p14:creationId xmlns:p14="http://schemas.microsoft.com/office/powerpoint/2010/main" val="356820103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キーメッセージ">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883164A-94EC-04CE-37EE-591185034965}"/>
              </a:ext>
            </a:extLst>
          </p:cNvPr>
          <p:cNvSpPr>
            <a:spLocks noGrp="1"/>
          </p:cNvSpPr>
          <p:nvPr>
            <p:ph idx="1" hasCustomPrompt="1"/>
          </p:nvPr>
        </p:nvSpPr>
        <p:spPr>
          <a:xfrm>
            <a:off x="334963" y="569368"/>
            <a:ext cx="11522076" cy="802232"/>
          </a:xfrm>
          <a:prstGeom prst="rect">
            <a:avLst/>
          </a:prstGeom>
        </p:spPr>
        <p:txBody>
          <a:bodyPr lIns="0" tIns="0" rIns="0" bIns="0">
            <a:normAutofit/>
          </a:bodyPr>
          <a:lstStyle>
            <a:lvl1pPr marL="0" indent="0">
              <a:lnSpc>
                <a:spcPct val="110000"/>
              </a:lnSpc>
              <a:spcBef>
                <a:spcPts val="0"/>
              </a:spcBef>
              <a:spcAft>
                <a:spcPts val="400"/>
              </a:spcAft>
              <a:buNone/>
              <a:defRPr sz="2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キーメッセージ</a:t>
            </a:r>
          </a:p>
        </p:txBody>
      </p:sp>
      <p:sp>
        <p:nvSpPr>
          <p:cNvPr id="5" name="フッター プレースホルダー 4">
            <a:extLst>
              <a:ext uri="{FF2B5EF4-FFF2-40B4-BE49-F238E27FC236}">
                <a16:creationId xmlns:a16="http://schemas.microsoft.com/office/drawing/2014/main" id="{22CA9728-64B4-D7AE-9EA5-6D6A2D1F0D8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dirty="0"/>
          </a:p>
        </p:txBody>
      </p:sp>
      <p:sp>
        <p:nvSpPr>
          <p:cNvPr id="7" name="タイトル 1">
            <a:extLst>
              <a:ext uri="{FF2B5EF4-FFF2-40B4-BE49-F238E27FC236}">
                <a16:creationId xmlns:a16="http://schemas.microsoft.com/office/drawing/2014/main" id="{5573E3FD-41C0-5456-809E-CCB5789736EE}"/>
              </a:ext>
            </a:extLst>
          </p:cNvPr>
          <p:cNvSpPr>
            <a:spLocks noGrp="1"/>
          </p:cNvSpPr>
          <p:nvPr>
            <p:ph type="title"/>
          </p:nvPr>
        </p:nvSpPr>
        <p:spPr>
          <a:xfrm>
            <a:off x="334963"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cxnSp>
        <p:nvCxnSpPr>
          <p:cNvPr id="2" name="直線コネクタ 1">
            <a:extLst>
              <a:ext uri="{FF2B5EF4-FFF2-40B4-BE49-F238E27FC236}">
                <a16:creationId xmlns:a16="http://schemas.microsoft.com/office/drawing/2014/main" id="{010B0C8B-F8BF-0AF5-54D7-247E8E1709CD}"/>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777357"/>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キーメッセージとコンテンツ">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883164A-94EC-04CE-37EE-591185034965}"/>
              </a:ext>
            </a:extLst>
          </p:cNvPr>
          <p:cNvSpPr>
            <a:spLocks noGrp="1"/>
          </p:cNvSpPr>
          <p:nvPr>
            <p:ph idx="1" hasCustomPrompt="1"/>
          </p:nvPr>
        </p:nvSpPr>
        <p:spPr>
          <a:xfrm>
            <a:off x="334963" y="569368"/>
            <a:ext cx="11522076" cy="802232"/>
          </a:xfrm>
          <a:prstGeom prst="rect">
            <a:avLst/>
          </a:prstGeom>
        </p:spPr>
        <p:txBody>
          <a:bodyPr lIns="0" tIns="0" rIns="0" bIns="0">
            <a:normAutofit/>
          </a:bodyPr>
          <a:lstStyle>
            <a:lvl1pPr marL="0" indent="0">
              <a:lnSpc>
                <a:spcPct val="110000"/>
              </a:lnSpc>
              <a:spcBef>
                <a:spcPts val="0"/>
              </a:spcBef>
              <a:spcAft>
                <a:spcPts val="400"/>
              </a:spcAft>
              <a:buNone/>
              <a:defRPr sz="2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キーメッセージ</a:t>
            </a:r>
          </a:p>
        </p:txBody>
      </p:sp>
      <p:sp>
        <p:nvSpPr>
          <p:cNvPr id="5" name="フッター プレースホルダー 4">
            <a:extLst>
              <a:ext uri="{FF2B5EF4-FFF2-40B4-BE49-F238E27FC236}">
                <a16:creationId xmlns:a16="http://schemas.microsoft.com/office/drawing/2014/main" id="{22CA9728-64B4-D7AE-9EA5-6D6A2D1F0D8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dirty="0"/>
          </a:p>
        </p:txBody>
      </p:sp>
      <p:sp>
        <p:nvSpPr>
          <p:cNvPr id="7" name="タイトル 1">
            <a:extLst>
              <a:ext uri="{FF2B5EF4-FFF2-40B4-BE49-F238E27FC236}">
                <a16:creationId xmlns:a16="http://schemas.microsoft.com/office/drawing/2014/main" id="{5573E3FD-41C0-5456-809E-CCB5789736EE}"/>
              </a:ext>
            </a:extLst>
          </p:cNvPr>
          <p:cNvSpPr>
            <a:spLocks noGrp="1"/>
          </p:cNvSpPr>
          <p:nvPr>
            <p:ph type="title"/>
          </p:nvPr>
        </p:nvSpPr>
        <p:spPr>
          <a:xfrm>
            <a:off x="334963"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cxnSp>
        <p:nvCxnSpPr>
          <p:cNvPr id="2" name="直線コネクタ 1">
            <a:extLst>
              <a:ext uri="{FF2B5EF4-FFF2-40B4-BE49-F238E27FC236}">
                <a16:creationId xmlns:a16="http://schemas.microsoft.com/office/drawing/2014/main" id="{010B0C8B-F8BF-0AF5-54D7-247E8E1709CD}"/>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コンテンツ プレースホルダー 7">
            <a:extLst>
              <a:ext uri="{FF2B5EF4-FFF2-40B4-BE49-F238E27FC236}">
                <a16:creationId xmlns:a16="http://schemas.microsoft.com/office/drawing/2014/main" id="{5A57F326-C488-F391-08E7-9F9F8BFE9BA1}"/>
              </a:ext>
            </a:extLst>
          </p:cNvPr>
          <p:cNvSpPr>
            <a:spLocks noGrp="1"/>
          </p:cNvSpPr>
          <p:nvPr>
            <p:ph sz="quarter" idx="13"/>
          </p:nvPr>
        </p:nvSpPr>
        <p:spPr>
          <a:xfrm>
            <a:off x="584778" y="1579852"/>
            <a:ext cx="11022443" cy="4519612"/>
          </a:xfrm>
          <a:prstGeom prst="rect">
            <a:avLst/>
          </a:prstGeom>
        </p:spPr>
        <p:txBody>
          <a:bodyPr lIns="0" tIns="0" rIns="0" bIns="0"/>
          <a:lstStyle>
            <a:lvl1pPr marL="0" indent="0" defTabSz="179388">
              <a:lnSpc>
                <a:spcPct val="120000"/>
              </a:lnSpc>
              <a:spcBef>
                <a:spcPts val="0"/>
              </a:spcBef>
              <a:spcAft>
                <a:spcPts val="500"/>
              </a:spcAft>
              <a:buClr>
                <a:schemeClr val="accent2"/>
              </a:buClr>
              <a:buFont typeface="Arial" panose="020B0604020202020204" pitchFamily="34" charset="0"/>
              <a:buNone/>
              <a:defRPr sz="1600"/>
            </a:lvl1pPr>
            <a:lvl2pPr marL="0" indent="0" defTabSz="179388">
              <a:buNone/>
              <a:defRPr sz="1600"/>
            </a:lvl2pPr>
            <a:lvl3pPr marL="914400" indent="0">
              <a:buNone/>
              <a:defRPr sz="1200"/>
            </a:lvl3pPr>
            <a:lvl4pPr marL="1371600" indent="0">
              <a:buNone/>
              <a:defRPr sz="1100"/>
            </a:lvl4pPr>
            <a:lvl5pPr marL="1828800" indent="0">
              <a:buNone/>
              <a:defRPr sz="1100"/>
            </a:lvl5pPr>
          </a:lstStyle>
          <a:p>
            <a:pPr lvl="0"/>
            <a:endParaRPr kumimoji="1" lang="ja-JP" altLang="en-US" dirty="0"/>
          </a:p>
        </p:txBody>
      </p:sp>
    </p:spTree>
    <p:extLst>
      <p:ext uri="{BB962C8B-B14F-4D97-AF65-F5344CB8AC3E}">
        <p14:creationId xmlns:p14="http://schemas.microsoft.com/office/powerpoint/2010/main" val="3915535754"/>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CA65AB-B3FB-30C2-15F3-00C9C4117279}"/>
              </a:ext>
            </a:extLst>
          </p:cNvPr>
          <p:cNvSpPr>
            <a:spLocks noGrp="1"/>
          </p:cNvSpPr>
          <p:nvPr>
            <p:ph type="title"/>
          </p:nvPr>
        </p:nvSpPr>
        <p:spPr>
          <a:xfrm>
            <a:off x="334962"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sp>
        <p:nvSpPr>
          <p:cNvPr id="4" name="フッター プレースホルダー 3">
            <a:extLst>
              <a:ext uri="{FF2B5EF4-FFF2-40B4-BE49-F238E27FC236}">
                <a16:creationId xmlns:a16="http://schemas.microsoft.com/office/drawing/2014/main" id="{95BF984F-C80E-FE48-216F-4D7B739AE0A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5" name="スライド番号プレースホルダー 4">
            <a:extLst>
              <a:ext uri="{FF2B5EF4-FFF2-40B4-BE49-F238E27FC236}">
                <a16:creationId xmlns:a16="http://schemas.microsoft.com/office/drawing/2014/main" id="{0E8C2261-1BD8-C8F6-B91D-55DF3B205ABB}"/>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3" name="直線コネクタ 2">
            <a:extLst>
              <a:ext uri="{FF2B5EF4-FFF2-40B4-BE49-F238E27FC236}">
                <a16:creationId xmlns:a16="http://schemas.microsoft.com/office/drawing/2014/main" id="{905CA232-9C71-0151-8BDA-5607C58736B1}"/>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13633"/>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キースライド">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22CA9728-64B4-D7AE-9EA5-6D6A2D1F0D8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sp>
        <p:nvSpPr>
          <p:cNvPr id="2" name="フレーム 1">
            <a:extLst>
              <a:ext uri="{FF2B5EF4-FFF2-40B4-BE49-F238E27FC236}">
                <a16:creationId xmlns:a16="http://schemas.microsoft.com/office/drawing/2014/main" id="{B818BD0A-C1DD-EB2E-1350-A0CDBEA4D7F6}"/>
              </a:ext>
            </a:extLst>
          </p:cNvPr>
          <p:cNvSpPr/>
          <p:nvPr userDrawn="1"/>
        </p:nvSpPr>
        <p:spPr>
          <a:xfrm>
            <a:off x="0" y="0"/>
            <a:ext cx="12192000" cy="6858000"/>
          </a:xfrm>
          <a:prstGeom prst="frame">
            <a:avLst>
              <a:gd name="adj1" fmla="val 120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4" name="直線コネクタ 3">
            <a:extLst>
              <a:ext uri="{FF2B5EF4-FFF2-40B4-BE49-F238E27FC236}">
                <a16:creationId xmlns:a16="http://schemas.microsoft.com/office/drawing/2014/main" id="{BF95697D-A8FF-B2A3-2CE3-329D52B30C00}"/>
              </a:ext>
            </a:extLst>
          </p:cNvPr>
          <p:cNvCxnSpPr>
            <a:cxnSpLocks/>
          </p:cNvCxnSpPr>
          <p:nvPr userDrawn="1"/>
        </p:nvCxnSpPr>
        <p:spPr>
          <a:xfrm>
            <a:off x="11531600" y="6610350"/>
            <a:ext cx="0" cy="24765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テキスト プレースホルダー 8">
            <a:extLst>
              <a:ext uri="{FF2B5EF4-FFF2-40B4-BE49-F238E27FC236}">
                <a16:creationId xmlns:a16="http://schemas.microsoft.com/office/drawing/2014/main" id="{5CCC478E-A8C8-9101-0674-4E6D23C2F289}"/>
              </a:ext>
            </a:extLst>
          </p:cNvPr>
          <p:cNvSpPr>
            <a:spLocks noGrp="1"/>
          </p:cNvSpPr>
          <p:nvPr>
            <p:ph type="body" sz="quarter" idx="13" hasCustomPrompt="1"/>
          </p:nvPr>
        </p:nvSpPr>
        <p:spPr>
          <a:xfrm>
            <a:off x="336731" y="3235101"/>
            <a:ext cx="11520307" cy="387798"/>
          </a:xfrm>
          <a:prstGeom prst="rect">
            <a:avLst/>
          </a:prstGeom>
        </p:spPr>
        <p:txBody>
          <a:bodyPr lIns="0" tIns="0" rIns="0" bIns="0" anchor="ctr" anchorCtr="1">
            <a:sp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kumimoji="1" lang="ja-JP" altLang="en-US" dirty="0"/>
              <a:t>キーメッセージ</a:t>
            </a:r>
          </a:p>
        </p:txBody>
      </p:sp>
    </p:spTree>
    <p:extLst>
      <p:ext uri="{BB962C8B-B14F-4D97-AF65-F5344CB8AC3E}">
        <p14:creationId xmlns:p14="http://schemas.microsoft.com/office/powerpoint/2010/main" val="2843868937"/>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2451F8-FACD-BC7C-CD2F-8BB58E050BDE}"/>
              </a:ext>
            </a:extLst>
          </p:cNvPr>
          <p:cNvSpPr>
            <a:spLocks noGrp="1"/>
          </p:cNvSpPr>
          <p:nvPr>
            <p:ph type="title" hasCustomPrompt="1"/>
          </p:nvPr>
        </p:nvSpPr>
        <p:spPr>
          <a:xfrm>
            <a:off x="793750" y="3086260"/>
            <a:ext cx="7451292" cy="738664"/>
          </a:xfrm>
          <a:prstGeom prst="rect">
            <a:avLst/>
          </a:prstGeom>
        </p:spPr>
        <p:txBody>
          <a:bodyPr wrap="square" lIns="0" tIns="0" rIns="0" bIns="0" anchor="t">
            <a:spAutoFit/>
          </a:bodyPr>
          <a:lstStyle>
            <a:lvl1pPr>
              <a:lnSpc>
                <a:spcPct val="100000"/>
              </a:lnSpc>
              <a:defRPr sz="4800"/>
            </a:lvl1pPr>
          </a:lstStyle>
          <a:p>
            <a:r>
              <a:rPr kumimoji="1" lang="ja-JP" altLang="en-US" dirty="0"/>
              <a:t>章タイトル</a:t>
            </a:r>
          </a:p>
        </p:txBody>
      </p:sp>
      <p:sp>
        <p:nvSpPr>
          <p:cNvPr id="3" name="テキスト プレースホルダー 2">
            <a:extLst>
              <a:ext uri="{FF2B5EF4-FFF2-40B4-BE49-F238E27FC236}">
                <a16:creationId xmlns:a16="http://schemas.microsoft.com/office/drawing/2014/main" id="{29C14408-5C96-D710-E687-AC9D4BBCD19B}"/>
              </a:ext>
            </a:extLst>
          </p:cNvPr>
          <p:cNvSpPr>
            <a:spLocks noGrp="1"/>
          </p:cNvSpPr>
          <p:nvPr>
            <p:ph type="body" idx="1" hasCustomPrompt="1"/>
          </p:nvPr>
        </p:nvSpPr>
        <p:spPr>
          <a:xfrm>
            <a:off x="831850" y="2594413"/>
            <a:ext cx="7397750" cy="276999"/>
          </a:xfrm>
          <a:prstGeom prst="rect">
            <a:avLst/>
          </a:prstGeom>
        </p:spPr>
        <p:txBody>
          <a:bodyPr wrap="square" lIns="0" tIns="0" rIns="0" bIns="0" anchor="ctr">
            <a:spAutoFit/>
          </a:bodyPr>
          <a:lstStyle>
            <a:lvl1pPr marL="0" indent="0">
              <a:lnSpc>
                <a:spcPct val="100000"/>
              </a:lnSpc>
              <a:buNone/>
              <a:defRPr sz="1800">
                <a:solidFill>
                  <a:schemeClr val="tx1">
                    <a:tint val="75000"/>
                  </a:schemeClr>
                </a:solidFill>
                <a:latin typeface="Yu Gothic UI" panose="020B0500000000000000" pitchFamily="50" charset="-128"/>
                <a:ea typeface="Yu Gothic UI" panose="020B0500000000000000" pitchFamily="50"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dirty="0"/>
              <a:t>章番号</a:t>
            </a:r>
          </a:p>
        </p:txBody>
      </p:sp>
      <p:sp>
        <p:nvSpPr>
          <p:cNvPr id="5" name="フッター プレースホルダー 4">
            <a:extLst>
              <a:ext uri="{FF2B5EF4-FFF2-40B4-BE49-F238E27FC236}">
                <a16:creationId xmlns:a16="http://schemas.microsoft.com/office/drawing/2014/main" id="{100A0755-42CE-E9D8-B350-19287C6906D5}"/>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1A642D2F-948C-D83B-7AB2-D6EB6AEF4C84}"/>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11" name="直線コネクタ 10">
            <a:extLst>
              <a:ext uri="{FF2B5EF4-FFF2-40B4-BE49-F238E27FC236}">
                <a16:creationId xmlns:a16="http://schemas.microsoft.com/office/drawing/2014/main" id="{ECC045BD-2B19-4D9C-5901-5FF2ABD12B32}"/>
              </a:ext>
            </a:extLst>
          </p:cNvPr>
          <p:cNvCxnSpPr>
            <a:cxnSpLocks/>
          </p:cNvCxnSpPr>
          <p:nvPr userDrawn="1"/>
        </p:nvCxnSpPr>
        <p:spPr>
          <a:xfrm flipH="1">
            <a:off x="0" y="2714171"/>
            <a:ext cx="602342"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AB63676-FB08-8574-20E3-68AB8ABE9717}"/>
              </a:ext>
            </a:extLst>
          </p:cNvPr>
          <p:cNvCxnSpPr>
            <a:cxnSpLocks/>
          </p:cNvCxnSpPr>
          <p:nvPr userDrawn="1"/>
        </p:nvCxnSpPr>
        <p:spPr>
          <a:xfrm>
            <a:off x="215900" y="215900"/>
            <a:ext cx="0" cy="21717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7BFB5998-CD4C-4167-1FEE-83CF4162E550}"/>
              </a:ext>
            </a:extLst>
          </p:cNvPr>
          <p:cNvCxnSpPr>
            <a:cxnSpLocks/>
          </p:cNvCxnSpPr>
          <p:nvPr userDrawn="1"/>
        </p:nvCxnSpPr>
        <p:spPr>
          <a:xfrm>
            <a:off x="215900" y="3086260"/>
            <a:ext cx="0" cy="322405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BD29E1F7-54D6-8B90-3607-93B466B77570}"/>
              </a:ext>
            </a:extLst>
          </p:cNvPr>
          <p:cNvCxnSpPr>
            <a:cxnSpLocks/>
          </p:cNvCxnSpPr>
          <p:nvPr userDrawn="1"/>
        </p:nvCxnSpPr>
        <p:spPr>
          <a:xfrm>
            <a:off x="11974022" y="215900"/>
            <a:ext cx="0" cy="609441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32304FCE-0648-4D17-E2BA-A7F8172E57C1}"/>
              </a:ext>
            </a:extLst>
          </p:cNvPr>
          <p:cNvCxnSpPr>
            <a:cxnSpLocks/>
          </p:cNvCxnSpPr>
          <p:nvPr userDrawn="1"/>
        </p:nvCxnSpPr>
        <p:spPr>
          <a:xfrm flipH="1">
            <a:off x="215900" y="215900"/>
            <a:ext cx="11758122"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3427F7ED-3DF7-EFD8-FEF3-BF94872EC61C}"/>
              </a:ext>
            </a:extLst>
          </p:cNvPr>
          <p:cNvCxnSpPr>
            <a:cxnSpLocks/>
          </p:cNvCxnSpPr>
          <p:nvPr userDrawn="1"/>
        </p:nvCxnSpPr>
        <p:spPr>
          <a:xfrm flipH="1">
            <a:off x="215900" y="6310312"/>
            <a:ext cx="11766368"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838486"/>
      </p:ext>
    </p:extLst>
  </p:cSld>
  <p:clrMapOvr>
    <a:masterClrMapping/>
  </p:clrMapOvr>
  <p:extLst>
    <p:ext uri="{DCECCB84-F9BA-43D5-87BE-67443E8EF086}">
      <p15:sldGuideLst xmlns:p15="http://schemas.microsoft.com/office/powerpoint/2012/main">
        <p15:guide id="1" pos="57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0464269F-11F2-AAFC-11EE-60C2F402A033}"/>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89AEF266-4BCF-1F54-D237-2C4CEA31D82C}"/>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2" name="直線コネクタ 1">
            <a:extLst>
              <a:ext uri="{FF2B5EF4-FFF2-40B4-BE49-F238E27FC236}">
                <a16:creationId xmlns:a16="http://schemas.microsoft.com/office/drawing/2014/main" id="{29045ED0-745F-3DF3-A1FB-BDE3CC323008}"/>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123655"/>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フッターなし">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05186"/>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DDF6A91A-0BBA-7987-E575-9CF15A220294}"/>
              </a:ext>
            </a:extLst>
          </p:cNvPr>
          <p:cNvSpPr>
            <a:spLocks noGrp="1"/>
          </p:cNvSpPr>
          <p:nvPr>
            <p:ph type="ftr" sz="quarter" idx="3"/>
          </p:nvPr>
        </p:nvSpPr>
        <p:spPr>
          <a:xfrm>
            <a:off x="336731" y="6538912"/>
            <a:ext cx="4114800" cy="228600"/>
          </a:xfrm>
          <a:prstGeom prst="rect">
            <a:avLst/>
          </a:prstGeom>
        </p:spPr>
        <p:txBody>
          <a:bodyPr vert="horz" lIns="0" tIns="0" rIns="0" bIns="0" rtlCol="0" anchor="ctr"/>
          <a:lstStyle>
            <a:lvl1pPr algn="l">
              <a:defRPr sz="800" spc="180" baseline="0">
                <a:solidFill>
                  <a:schemeClr val="tx1">
                    <a:tint val="75000"/>
                  </a:schemeClr>
                </a:solidFill>
                <a:latin typeface="Yu Gothic UI" panose="020B0500000000000000" pitchFamily="50" charset="-128"/>
                <a:ea typeface="Yu Gothic UI" panose="020B0500000000000000" pitchFamily="50" charset="-128"/>
              </a:defRPr>
            </a:lvl1pPr>
          </a:lstStyle>
          <a:p>
            <a:r>
              <a:rPr lang="en-US" altLang="ja-JP"/>
              <a:t>ICHIBAN SIMPLE template</a:t>
            </a:r>
            <a:endParaRPr lang="ja-JP" altLang="en-US" dirty="0"/>
          </a:p>
        </p:txBody>
      </p:sp>
      <p:sp>
        <p:nvSpPr>
          <p:cNvPr id="6" name="スライド番号プレースホルダー 5">
            <a:extLst>
              <a:ext uri="{FF2B5EF4-FFF2-40B4-BE49-F238E27FC236}">
                <a16:creationId xmlns:a16="http://schemas.microsoft.com/office/drawing/2014/main" id="{EB4CEB82-0F9D-28B2-8553-47E29A29AE8B}"/>
              </a:ext>
            </a:extLst>
          </p:cNvPr>
          <p:cNvSpPr>
            <a:spLocks noGrp="1"/>
          </p:cNvSpPr>
          <p:nvPr>
            <p:ph type="sldNum" sz="quarter" idx="4"/>
          </p:nvPr>
        </p:nvSpPr>
        <p:spPr>
          <a:xfrm>
            <a:off x="11642635" y="6581774"/>
            <a:ext cx="425268" cy="228600"/>
          </a:xfrm>
          <a:prstGeom prst="rect">
            <a:avLst/>
          </a:prstGeom>
        </p:spPr>
        <p:txBody>
          <a:bodyPr vert="horz" lIns="0" tIns="0" rIns="0" bIns="0" rtlCol="0" anchor="ctr"/>
          <a:lstStyle>
            <a:lvl1pPr algn="ctr">
              <a:defRPr sz="900">
                <a:solidFill>
                  <a:schemeClr val="tx1">
                    <a:lumMod val="50000"/>
                    <a:lumOff val="50000"/>
                  </a:schemeClr>
                </a:solidFill>
                <a:latin typeface="Yu Gothic UI" panose="020B0500000000000000" pitchFamily="50" charset="-128"/>
                <a:ea typeface="Yu Gothic UI" panose="020B0500000000000000" pitchFamily="50" charset="-128"/>
              </a:defRPr>
            </a:lvl1pPr>
          </a:lstStyle>
          <a:p>
            <a:fld id="{3B09FD7E-EA79-4AC9-B47C-47EE1A48B026}" type="slidenum">
              <a:rPr lang="ja-JP" altLang="en-US" smtClean="0"/>
              <a:pPr/>
              <a:t>‹#›</a:t>
            </a:fld>
            <a:endParaRPr lang="ja-JP" altLang="en-US"/>
          </a:p>
        </p:txBody>
      </p:sp>
    </p:spTree>
    <p:extLst>
      <p:ext uri="{BB962C8B-B14F-4D97-AF65-F5344CB8AC3E}">
        <p14:creationId xmlns:p14="http://schemas.microsoft.com/office/powerpoint/2010/main" val="286631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4" r:id="rId4"/>
    <p:sldLayoutId id="2147483656" r:id="rId5"/>
    <p:sldLayoutId id="2147483651" r:id="rId6"/>
    <p:sldLayoutId id="2147483655" r:id="rId7"/>
    <p:sldLayoutId id="2147483658" r:id="rId8"/>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3.emf"/><Relationship Id="rId4" Type="http://schemas.openxmlformats.org/officeDocument/2006/relationships/image" Target="../media/image12.emf"/></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3.xml"/><Relationship Id="rId5" Type="http://schemas.openxmlformats.org/officeDocument/2006/relationships/image" Target="../media/image17.emf"/><Relationship Id="rId4" Type="http://schemas.openxmlformats.org/officeDocument/2006/relationships/image" Target="../media/image16.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D6EBDA-F438-B465-185F-793372CDBF50}"/>
              </a:ext>
            </a:extLst>
          </p:cNvPr>
          <p:cNvSpPr>
            <a:spLocks noGrp="1"/>
          </p:cNvSpPr>
          <p:nvPr>
            <p:ph type="ctrTitle"/>
          </p:nvPr>
        </p:nvSpPr>
        <p:spPr/>
        <p:txBody>
          <a:bodyPr/>
          <a:lstStyle/>
          <a:p>
            <a:r>
              <a:rPr lang="ja-JP" altLang="en-US"/>
              <a:t>進捗報告</a:t>
            </a:r>
            <a:endParaRPr kumimoji="1" lang="ja-JP" altLang="en-US"/>
          </a:p>
        </p:txBody>
      </p:sp>
      <p:sp>
        <p:nvSpPr>
          <p:cNvPr id="3" name="字幕 2">
            <a:extLst>
              <a:ext uri="{FF2B5EF4-FFF2-40B4-BE49-F238E27FC236}">
                <a16:creationId xmlns:a16="http://schemas.microsoft.com/office/drawing/2014/main" id="{C14AB835-0690-A9B3-83C6-B65EBEEBF98F}"/>
              </a:ext>
            </a:extLst>
          </p:cNvPr>
          <p:cNvSpPr>
            <a:spLocks noGrp="1"/>
          </p:cNvSpPr>
          <p:nvPr>
            <p:ph type="subTitle" idx="1"/>
          </p:nvPr>
        </p:nvSpPr>
        <p:spPr/>
        <p:txBody>
          <a:bodyPr/>
          <a:lstStyle/>
          <a:p>
            <a:r>
              <a:rPr kumimoji="1" lang="ja-JP" altLang="en-US"/>
              <a:t>宮崎　綾平</a:t>
            </a:r>
          </a:p>
        </p:txBody>
      </p:sp>
      <p:sp>
        <p:nvSpPr>
          <p:cNvPr id="4" name="テキスト プレースホルダー 3">
            <a:extLst>
              <a:ext uri="{FF2B5EF4-FFF2-40B4-BE49-F238E27FC236}">
                <a16:creationId xmlns:a16="http://schemas.microsoft.com/office/drawing/2014/main" id="{C01CE2F6-E311-2605-4642-ED8CF30F749C}"/>
              </a:ext>
            </a:extLst>
          </p:cNvPr>
          <p:cNvSpPr>
            <a:spLocks noGrp="1"/>
          </p:cNvSpPr>
          <p:nvPr>
            <p:ph type="body" sz="quarter" idx="10"/>
          </p:nvPr>
        </p:nvSpPr>
        <p:spPr/>
        <p:txBody>
          <a:bodyPr/>
          <a:lstStyle/>
          <a:p>
            <a:r>
              <a:rPr kumimoji="1" lang="en-US" altLang="ja-JP" dirty="0"/>
              <a:t>2025-10-06</a:t>
            </a:r>
            <a:endParaRPr kumimoji="1" lang="ja-JP" altLang="en-US"/>
          </a:p>
        </p:txBody>
      </p:sp>
    </p:spTree>
    <p:extLst>
      <p:ext uri="{BB962C8B-B14F-4D97-AF65-F5344CB8AC3E}">
        <p14:creationId xmlns:p14="http://schemas.microsoft.com/office/powerpoint/2010/main" val="1190777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161E487-0E9F-FFD4-73DB-89294A50DEF4}"/>
              </a:ext>
            </a:extLst>
          </p:cNvPr>
          <p:cNvSpPr>
            <a:spLocks noGrp="1"/>
          </p:cNvSpPr>
          <p:nvPr>
            <p:ph idx="1"/>
          </p:nvPr>
        </p:nvSpPr>
        <p:spPr/>
        <p:txBody>
          <a:bodyPr/>
          <a:lstStyle/>
          <a:p>
            <a:r>
              <a:rPr lang="ja-JP" altLang="en-US"/>
              <a:t>目次</a:t>
            </a:r>
            <a:endParaRPr kumimoji="1" lang="ja-JP" altLang="en-US"/>
          </a:p>
        </p:txBody>
      </p:sp>
      <p:sp>
        <p:nvSpPr>
          <p:cNvPr id="4" name="スライド番号プレースホルダー 3">
            <a:extLst>
              <a:ext uri="{FF2B5EF4-FFF2-40B4-BE49-F238E27FC236}">
                <a16:creationId xmlns:a16="http://schemas.microsoft.com/office/drawing/2014/main" id="{840DEC08-F50D-B3AE-720C-7493A792C690}"/>
              </a:ext>
            </a:extLst>
          </p:cNvPr>
          <p:cNvSpPr>
            <a:spLocks noGrp="1"/>
          </p:cNvSpPr>
          <p:nvPr>
            <p:ph type="sldNum" sz="quarter" idx="12"/>
          </p:nvPr>
        </p:nvSpPr>
        <p:spPr/>
        <p:txBody>
          <a:bodyPr/>
          <a:lstStyle/>
          <a:p>
            <a:fld id="{3B09FD7E-EA79-4AC9-B47C-47EE1A48B026}" type="slidenum">
              <a:rPr kumimoji="1" lang="ja-JP" altLang="en-US" smtClean="0"/>
              <a:t>2</a:t>
            </a:fld>
            <a:endParaRPr kumimoji="1" lang="ja-JP" altLang="en-US" dirty="0"/>
          </a:p>
        </p:txBody>
      </p:sp>
      <p:sp>
        <p:nvSpPr>
          <p:cNvPr id="5" name="タイトル 4">
            <a:extLst>
              <a:ext uri="{FF2B5EF4-FFF2-40B4-BE49-F238E27FC236}">
                <a16:creationId xmlns:a16="http://schemas.microsoft.com/office/drawing/2014/main" id="{A3405C41-DA49-D06F-94E1-32B90A70F0A5}"/>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E76E938F-7BF1-BE0B-31B3-A6D86833DA2E}"/>
              </a:ext>
            </a:extLst>
          </p:cNvPr>
          <p:cNvSpPr>
            <a:spLocks noGrp="1"/>
          </p:cNvSpPr>
          <p:nvPr>
            <p:ph sz="quarter" idx="13"/>
          </p:nvPr>
        </p:nvSpPr>
        <p:spPr/>
        <p:txBody>
          <a:bodyPr/>
          <a:lstStyle/>
          <a:p>
            <a:pPr>
              <a:lnSpc>
                <a:spcPct val="150000"/>
              </a:lnSpc>
            </a:pPr>
            <a:r>
              <a:rPr lang="en-US" altLang="ja-JP" sz="2400" dirty="0"/>
              <a:t>1.</a:t>
            </a:r>
            <a:r>
              <a:rPr lang="ja-JP" altLang="en-US" sz="2400"/>
              <a:t>　現在の進捗</a:t>
            </a:r>
            <a:endParaRPr lang="en-US" altLang="ja-JP" sz="2400" dirty="0"/>
          </a:p>
          <a:p>
            <a:pPr>
              <a:lnSpc>
                <a:spcPct val="150000"/>
              </a:lnSpc>
            </a:pPr>
            <a:r>
              <a:rPr lang="en-US" altLang="ja-JP" sz="2400" dirty="0"/>
              <a:t>2.</a:t>
            </a:r>
            <a:r>
              <a:rPr lang="ja-JP" altLang="en-US" sz="2400"/>
              <a:t>　分析結果</a:t>
            </a:r>
            <a:endParaRPr lang="en-US" altLang="ja-JP" sz="2400" dirty="0"/>
          </a:p>
          <a:p>
            <a:pPr>
              <a:lnSpc>
                <a:spcPct val="150000"/>
              </a:lnSpc>
            </a:pPr>
            <a:endParaRPr lang="en-US" altLang="ja-JP" dirty="0"/>
          </a:p>
          <a:p>
            <a:endParaRPr kumimoji="1" lang="ja-JP" altLang="en-US"/>
          </a:p>
        </p:txBody>
      </p:sp>
    </p:spTree>
    <p:extLst>
      <p:ext uri="{BB962C8B-B14F-4D97-AF65-F5344CB8AC3E}">
        <p14:creationId xmlns:p14="http://schemas.microsoft.com/office/powerpoint/2010/main" val="4112793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6AE4A9-05AF-98C2-A46E-16EEA026F67C}"/>
              </a:ext>
            </a:extLst>
          </p:cNvPr>
          <p:cNvSpPr>
            <a:spLocks noGrp="1"/>
          </p:cNvSpPr>
          <p:nvPr>
            <p:ph type="title"/>
          </p:nvPr>
        </p:nvSpPr>
        <p:spPr/>
        <p:txBody>
          <a:bodyPr/>
          <a:lstStyle/>
          <a:p>
            <a:r>
              <a:rPr lang="ja-JP" altLang="en-US"/>
              <a:t>現在の進捗</a:t>
            </a:r>
            <a:endParaRPr kumimoji="1" lang="ja-JP" altLang="en-US"/>
          </a:p>
        </p:txBody>
      </p:sp>
      <p:sp>
        <p:nvSpPr>
          <p:cNvPr id="3" name="テキスト プレースホルダー 2">
            <a:extLst>
              <a:ext uri="{FF2B5EF4-FFF2-40B4-BE49-F238E27FC236}">
                <a16:creationId xmlns:a16="http://schemas.microsoft.com/office/drawing/2014/main" id="{4E8D37D3-60D8-4FE4-965E-478C26182BC9}"/>
              </a:ext>
            </a:extLst>
          </p:cNvPr>
          <p:cNvSpPr>
            <a:spLocks noGrp="1"/>
          </p:cNvSpPr>
          <p:nvPr>
            <p:ph type="body" idx="1"/>
          </p:nvPr>
        </p:nvSpPr>
        <p:spPr/>
        <p:txBody>
          <a:bodyPr/>
          <a:lstStyle/>
          <a:p>
            <a:r>
              <a:rPr kumimoji="1" lang="en-US" altLang="ja-JP" dirty="0"/>
              <a:t>01</a:t>
            </a:r>
            <a:endParaRPr kumimoji="1" lang="ja-JP" altLang="en-US"/>
          </a:p>
        </p:txBody>
      </p:sp>
      <p:sp>
        <p:nvSpPr>
          <p:cNvPr id="5" name="スライド番号プレースホルダー 4">
            <a:extLst>
              <a:ext uri="{FF2B5EF4-FFF2-40B4-BE49-F238E27FC236}">
                <a16:creationId xmlns:a16="http://schemas.microsoft.com/office/drawing/2014/main" id="{B13AB1EE-5899-B846-D6ED-5D580336BD81}"/>
              </a:ext>
            </a:extLst>
          </p:cNvPr>
          <p:cNvSpPr>
            <a:spLocks noGrp="1"/>
          </p:cNvSpPr>
          <p:nvPr>
            <p:ph type="sldNum" sz="quarter" idx="12"/>
          </p:nvPr>
        </p:nvSpPr>
        <p:spPr/>
        <p:txBody>
          <a:bodyPr/>
          <a:lstStyle/>
          <a:p>
            <a:fld id="{3B09FD7E-EA79-4AC9-B47C-47EE1A48B026}" type="slidenum">
              <a:rPr kumimoji="1" lang="ja-JP" altLang="en-US" smtClean="0"/>
              <a:t>3</a:t>
            </a:fld>
            <a:endParaRPr kumimoji="1" lang="ja-JP" altLang="en-US"/>
          </a:p>
        </p:txBody>
      </p:sp>
    </p:spTree>
    <p:extLst>
      <p:ext uri="{BB962C8B-B14F-4D97-AF65-F5344CB8AC3E}">
        <p14:creationId xmlns:p14="http://schemas.microsoft.com/office/powerpoint/2010/main" val="1622539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E2E7484-661F-7044-6F86-479175981A2C}"/>
              </a:ext>
            </a:extLst>
          </p:cNvPr>
          <p:cNvSpPr>
            <a:spLocks noGrp="1"/>
          </p:cNvSpPr>
          <p:nvPr>
            <p:ph idx="1"/>
          </p:nvPr>
        </p:nvSpPr>
        <p:spPr/>
        <p:txBody>
          <a:bodyPr/>
          <a:lstStyle/>
          <a:p>
            <a:r>
              <a:rPr kumimoji="1" lang="ja-JP" altLang="en-US"/>
              <a:t>現在の進捗</a:t>
            </a:r>
          </a:p>
        </p:txBody>
      </p:sp>
      <p:sp>
        <p:nvSpPr>
          <p:cNvPr id="4" name="スライド番号プレースホルダー 3">
            <a:extLst>
              <a:ext uri="{FF2B5EF4-FFF2-40B4-BE49-F238E27FC236}">
                <a16:creationId xmlns:a16="http://schemas.microsoft.com/office/drawing/2014/main" id="{2F1CAA03-7424-671D-56E8-F8212511F27E}"/>
              </a:ext>
            </a:extLst>
          </p:cNvPr>
          <p:cNvSpPr>
            <a:spLocks noGrp="1"/>
          </p:cNvSpPr>
          <p:nvPr>
            <p:ph type="sldNum" sz="quarter" idx="12"/>
          </p:nvPr>
        </p:nvSpPr>
        <p:spPr/>
        <p:txBody>
          <a:bodyPr/>
          <a:lstStyle/>
          <a:p>
            <a:fld id="{3B09FD7E-EA79-4AC9-B47C-47EE1A48B026}" type="slidenum">
              <a:rPr kumimoji="1" lang="ja-JP" altLang="en-US" smtClean="0"/>
              <a:t>4</a:t>
            </a:fld>
            <a:endParaRPr kumimoji="1" lang="ja-JP" altLang="en-US" dirty="0"/>
          </a:p>
        </p:txBody>
      </p:sp>
      <p:sp>
        <p:nvSpPr>
          <p:cNvPr id="5" name="タイトル 4">
            <a:extLst>
              <a:ext uri="{FF2B5EF4-FFF2-40B4-BE49-F238E27FC236}">
                <a16:creationId xmlns:a16="http://schemas.microsoft.com/office/drawing/2014/main" id="{32463AD1-D7C3-B1B0-DCB3-D6F66A21A090}"/>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2BCFEB00-67B3-42A8-DE3B-DFCB1A5CDD2D}"/>
              </a:ext>
            </a:extLst>
          </p:cNvPr>
          <p:cNvSpPr>
            <a:spLocks noGrp="1"/>
          </p:cNvSpPr>
          <p:nvPr>
            <p:ph sz="quarter" idx="13"/>
          </p:nvPr>
        </p:nvSpPr>
        <p:spPr/>
        <p:txBody>
          <a:bodyPr/>
          <a:lstStyle/>
          <a:p>
            <a:pPr>
              <a:lnSpc>
                <a:spcPct val="150000"/>
              </a:lnSpc>
            </a:pPr>
            <a:r>
              <a:rPr lang="ja-JP" altLang="en-US"/>
              <a:t>・タイトル</a:t>
            </a:r>
            <a:endParaRPr lang="en-US" altLang="ja-JP" dirty="0"/>
          </a:p>
          <a:p>
            <a:pPr>
              <a:lnSpc>
                <a:spcPct val="150000"/>
              </a:lnSpc>
            </a:pPr>
            <a:r>
              <a:rPr lang="ja-JP" altLang="en-US"/>
              <a:t>　→</a:t>
            </a:r>
            <a:r>
              <a:rPr lang="en-US" altLang="ja-JP" dirty="0"/>
              <a:t> </a:t>
            </a:r>
            <a:r>
              <a:rPr lang="ja-JP" altLang="en-US"/>
              <a:t>株価指標の時系列分析</a:t>
            </a:r>
            <a:endParaRPr lang="en-US" altLang="ja-JP" dirty="0"/>
          </a:p>
          <a:p>
            <a:pPr>
              <a:lnSpc>
                <a:spcPct val="150000"/>
              </a:lnSpc>
            </a:pPr>
            <a:endParaRPr lang="en-US" altLang="ja-JP" sz="500" dirty="0"/>
          </a:p>
          <a:p>
            <a:pPr>
              <a:lnSpc>
                <a:spcPct val="150000"/>
              </a:lnSpc>
            </a:pPr>
            <a:r>
              <a:rPr lang="ja-JP" altLang="en-US"/>
              <a:t>・目標</a:t>
            </a:r>
            <a:endParaRPr lang="en-US" altLang="ja-JP" dirty="0"/>
          </a:p>
          <a:p>
            <a:pPr>
              <a:lnSpc>
                <a:spcPct val="150000"/>
              </a:lnSpc>
            </a:pPr>
            <a:r>
              <a:rPr lang="ja-JP" altLang="en-US"/>
              <a:t>　→</a:t>
            </a:r>
            <a:r>
              <a:rPr lang="en-US" altLang="ja-JP" dirty="0"/>
              <a:t> </a:t>
            </a:r>
            <a:r>
              <a:rPr lang="ja-JP" altLang="en-US"/>
              <a:t>株式指標の時系列データを収集、分析することで経済情勢の変化に伴う株式指標の変化を観測する。</a:t>
            </a:r>
            <a:endParaRPr lang="en-US" altLang="ja-JP" dirty="0"/>
          </a:p>
          <a:p>
            <a:pPr>
              <a:lnSpc>
                <a:spcPct val="150000"/>
              </a:lnSpc>
            </a:pPr>
            <a:r>
              <a:rPr lang="ja-JP" altLang="en-US"/>
              <a:t>　　株式指標の未来の値を予測する。</a:t>
            </a:r>
            <a:endParaRPr lang="en-US" altLang="ja-JP" dirty="0"/>
          </a:p>
          <a:p>
            <a:pPr>
              <a:lnSpc>
                <a:spcPct val="150000"/>
              </a:lnSpc>
            </a:pPr>
            <a:endParaRPr lang="en-US" altLang="ja-JP" sz="500" dirty="0"/>
          </a:p>
          <a:p>
            <a:pPr>
              <a:lnSpc>
                <a:spcPct val="150000"/>
              </a:lnSpc>
            </a:pPr>
            <a:r>
              <a:rPr lang="ja-JP" altLang="en-US"/>
              <a:t>・進捗</a:t>
            </a:r>
            <a:endParaRPr lang="en-US" altLang="ja-JP" dirty="0"/>
          </a:p>
          <a:p>
            <a:pPr>
              <a:lnSpc>
                <a:spcPct val="150000"/>
              </a:lnSpc>
            </a:pPr>
            <a:r>
              <a:rPr lang="ja-JP" altLang="en-US"/>
              <a:t>　→日経平均株価の過去</a:t>
            </a:r>
            <a:r>
              <a:rPr lang="en-US" altLang="ja-JP" dirty="0"/>
              <a:t>10 </a:t>
            </a:r>
            <a:r>
              <a:rPr lang="ja-JP" altLang="en-US"/>
              <a:t>年分のデータを用いた</a:t>
            </a:r>
            <a:r>
              <a:rPr lang="en-US" altLang="ja-JP" dirty="0"/>
              <a:t>ARIMA</a:t>
            </a:r>
            <a:r>
              <a:rPr lang="ja-JP" altLang="en-US"/>
              <a:t>モデルによる時系列分析</a:t>
            </a:r>
            <a:endParaRPr kumimoji="1" lang="ja-JP" altLang="en-US"/>
          </a:p>
        </p:txBody>
      </p:sp>
    </p:spTree>
    <p:extLst>
      <p:ext uri="{BB962C8B-B14F-4D97-AF65-F5344CB8AC3E}">
        <p14:creationId xmlns:p14="http://schemas.microsoft.com/office/powerpoint/2010/main" val="22715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497D44-9110-F3AF-8837-5CF99E1FE189}"/>
              </a:ext>
            </a:extLst>
          </p:cNvPr>
          <p:cNvSpPr>
            <a:spLocks noGrp="1"/>
          </p:cNvSpPr>
          <p:nvPr>
            <p:ph type="title"/>
          </p:nvPr>
        </p:nvSpPr>
        <p:spPr/>
        <p:txBody>
          <a:bodyPr/>
          <a:lstStyle/>
          <a:p>
            <a:r>
              <a:rPr lang="ja-JP" altLang="en-US"/>
              <a:t>分析結果</a:t>
            </a:r>
            <a:endParaRPr kumimoji="1" lang="ja-JP" altLang="en-US"/>
          </a:p>
        </p:txBody>
      </p:sp>
      <p:sp>
        <p:nvSpPr>
          <p:cNvPr id="3" name="テキスト プレースホルダー 2">
            <a:extLst>
              <a:ext uri="{FF2B5EF4-FFF2-40B4-BE49-F238E27FC236}">
                <a16:creationId xmlns:a16="http://schemas.microsoft.com/office/drawing/2014/main" id="{FBC40B5E-2E0C-A8EC-5E0B-8D1B3BAABCF4}"/>
              </a:ext>
            </a:extLst>
          </p:cNvPr>
          <p:cNvSpPr>
            <a:spLocks noGrp="1"/>
          </p:cNvSpPr>
          <p:nvPr>
            <p:ph type="body" idx="1"/>
          </p:nvPr>
        </p:nvSpPr>
        <p:spPr/>
        <p:txBody>
          <a:bodyPr/>
          <a:lstStyle/>
          <a:p>
            <a:r>
              <a:rPr kumimoji="1" lang="en-US" altLang="ja-JP" dirty="0"/>
              <a:t>02</a:t>
            </a:r>
            <a:endParaRPr kumimoji="1" lang="ja-JP" altLang="en-US"/>
          </a:p>
        </p:txBody>
      </p:sp>
      <p:sp>
        <p:nvSpPr>
          <p:cNvPr id="5" name="スライド番号プレースホルダー 4">
            <a:extLst>
              <a:ext uri="{FF2B5EF4-FFF2-40B4-BE49-F238E27FC236}">
                <a16:creationId xmlns:a16="http://schemas.microsoft.com/office/drawing/2014/main" id="{F89A90F6-689A-E684-A6B8-B7D4941DFCC4}"/>
              </a:ext>
            </a:extLst>
          </p:cNvPr>
          <p:cNvSpPr>
            <a:spLocks noGrp="1"/>
          </p:cNvSpPr>
          <p:nvPr>
            <p:ph type="sldNum" sz="quarter" idx="12"/>
          </p:nvPr>
        </p:nvSpPr>
        <p:spPr/>
        <p:txBody>
          <a:bodyPr/>
          <a:lstStyle/>
          <a:p>
            <a:fld id="{3B09FD7E-EA79-4AC9-B47C-47EE1A48B026}" type="slidenum">
              <a:rPr kumimoji="1" lang="ja-JP" altLang="en-US" smtClean="0"/>
              <a:t>5</a:t>
            </a:fld>
            <a:endParaRPr kumimoji="1" lang="ja-JP" altLang="en-US"/>
          </a:p>
        </p:txBody>
      </p:sp>
    </p:spTree>
    <p:extLst>
      <p:ext uri="{BB962C8B-B14F-4D97-AF65-F5344CB8AC3E}">
        <p14:creationId xmlns:p14="http://schemas.microsoft.com/office/powerpoint/2010/main" val="1691343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E8DF94E-B613-1379-8D09-724A6E334DC8}"/>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1DAAFCE3-E1C8-5890-6CF8-CBBE656BA7F1}"/>
              </a:ext>
            </a:extLst>
          </p:cNvPr>
          <p:cNvSpPr>
            <a:spLocks noGrp="1"/>
          </p:cNvSpPr>
          <p:nvPr>
            <p:ph type="sldNum" sz="quarter" idx="12"/>
          </p:nvPr>
        </p:nvSpPr>
        <p:spPr/>
        <p:txBody>
          <a:bodyPr/>
          <a:lstStyle/>
          <a:p>
            <a:fld id="{3B09FD7E-EA79-4AC9-B47C-47EE1A48B026}" type="slidenum">
              <a:rPr kumimoji="1" lang="ja-JP" altLang="en-US" smtClean="0"/>
              <a:t>6</a:t>
            </a:fld>
            <a:endParaRPr kumimoji="1" lang="ja-JP" altLang="en-US" dirty="0"/>
          </a:p>
        </p:txBody>
      </p:sp>
      <p:sp>
        <p:nvSpPr>
          <p:cNvPr id="5" name="タイトル 4">
            <a:extLst>
              <a:ext uri="{FF2B5EF4-FFF2-40B4-BE49-F238E27FC236}">
                <a16:creationId xmlns:a16="http://schemas.microsoft.com/office/drawing/2014/main" id="{B33CE418-1C7C-54CA-3799-19E10F397128}"/>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24821CEA-5E14-1D90-3D42-5DCAB1D994FF}"/>
              </a:ext>
            </a:extLst>
          </p:cNvPr>
          <p:cNvSpPr>
            <a:spLocks noGrp="1"/>
          </p:cNvSpPr>
          <p:nvPr>
            <p:ph sz="quarter" idx="13"/>
          </p:nvPr>
        </p:nvSpPr>
        <p:spPr/>
        <p:txBody>
          <a:bodyPr/>
          <a:lstStyle/>
          <a:p>
            <a:r>
              <a:rPr kumimoji="1" lang="ja-JP" altLang="en-US"/>
              <a:t>・時系列分析の流れ</a:t>
            </a:r>
            <a:endParaRPr kumimoji="1" lang="en-US" altLang="ja-JP" dirty="0"/>
          </a:p>
          <a:p>
            <a:r>
              <a:rPr lang="en-US" altLang="ja-JP" dirty="0"/>
              <a:t>    </a:t>
            </a:r>
            <a:r>
              <a:rPr lang="ja-JP" altLang="en-US"/>
              <a:t>→</a:t>
            </a:r>
            <a:r>
              <a:rPr lang="en-US" altLang="ja-JP" dirty="0"/>
              <a:t> (1)</a:t>
            </a:r>
            <a:r>
              <a:rPr lang="ja-JP" altLang="ja-JP"/>
              <a:t>目的の確認とデータの収集</a:t>
            </a:r>
            <a:endParaRPr lang="en-US" altLang="ja-JP" dirty="0"/>
          </a:p>
          <a:p>
            <a:r>
              <a:rPr lang="en-US" altLang="ja-JP" dirty="0"/>
              <a:t>         (2)</a:t>
            </a:r>
            <a:r>
              <a:rPr lang="ja-JP" altLang="ja-JP"/>
              <a:t>データの下調べ</a:t>
            </a:r>
            <a:endParaRPr lang="en-US" altLang="ja-JP" dirty="0"/>
          </a:p>
          <a:p>
            <a:r>
              <a:rPr lang="en-US" altLang="ja-JP" dirty="0"/>
              <a:t>         (3)</a:t>
            </a:r>
            <a:r>
              <a:rPr lang="ja-JP" altLang="ja-JP"/>
              <a:t>モデルの定義</a:t>
            </a:r>
            <a:endParaRPr lang="en-US" altLang="ja-JP" dirty="0"/>
          </a:p>
          <a:p>
            <a:r>
              <a:rPr lang="en-US" altLang="ja-JP" dirty="0"/>
              <a:t>         (4)</a:t>
            </a:r>
            <a:r>
              <a:rPr lang="ja-JP" altLang="ja-JP"/>
              <a:t>分析処理</a:t>
            </a:r>
            <a:endParaRPr lang="en-US" altLang="ja-JP" dirty="0"/>
          </a:p>
          <a:p>
            <a:r>
              <a:rPr lang="en-US" altLang="ja-JP" dirty="0"/>
              <a:t>         (5)</a:t>
            </a:r>
            <a:r>
              <a:rPr lang="ja-JP" altLang="ja-JP"/>
              <a:t>結果の確認と吟味 </a:t>
            </a:r>
            <a:endParaRPr lang="en-US" altLang="ja-JP" dirty="0"/>
          </a:p>
          <a:p>
            <a:endParaRPr kumimoji="1" lang="en-US" altLang="ja-JP" dirty="0"/>
          </a:p>
          <a:p>
            <a:r>
              <a:rPr lang="ja-JP" altLang="en-US"/>
              <a:t>・参考文献</a:t>
            </a:r>
            <a:endParaRPr lang="en-US" altLang="ja-JP" dirty="0"/>
          </a:p>
          <a:p>
            <a:r>
              <a:rPr kumimoji="1" lang="ja-JP" altLang="en-US"/>
              <a:t>　→萩原 淳一郎 </a:t>
            </a:r>
            <a:r>
              <a:rPr lang="en-US" altLang="ja-JP" dirty="0"/>
              <a:t>,</a:t>
            </a:r>
            <a:r>
              <a:rPr kumimoji="1" lang="en-US" altLang="ja-JP" dirty="0"/>
              <a:t> </a:t>
            </a:r>
            <a:r>
              <a:rPr kumimoji="1" lang="ja-JP" altLang="en-US"/>
              <a:t>瓜生 真也 </a:t>
            </a:r>
            <a:r>
              <a:rPr kumimoji="1" lang="en-US" altLang="ja-JP" dirty="0"/>
              <a:t>, </a:t>
            </a:r>
            <a:r>
              <a:rPr kumimoji="1" lang="ja-JP" altLang="en-US"/>
              <a:t>牧山 幸史 </a:t>
            </a:r>
            <a:r>
              <a:rPr kumimoji="1" lang="en-US" altLang="ja-JP" dirty="0"/>
              <a:t>, </a:t>
            </a:r>
            <a:r>
              <a:rPr lang="ja-JP" altLang="en-US"/>
              <a:t>基礎からわかる時系列分析 </a:t>
            </a:r>
            <a:r>
              <a:rPr lang="en-US" altLang="ja-JP" dirty="0"/>
              <a:t>―</a:t>
            </a:r>
            <a:r>
              <a:rPr lang="en" altLang="ja-JP" dirty="0"/>
              <a:t>R</a:t>
            </a:r>
            <a:r>
              <a:rPr lang="ja-JP" altLang="en-US"/>
              <a:t>で実践するカルマンフィルタ・</a:t>
            </a:r>
            <a:r>
              <a:rPr lang="en" altLang="ja-JP" dirty="0"/>
              <a:t>MCMC</a:t>
            </a:r>
            <a:r>
              <a:rPr lang="ja-JP" altLang="en"/>
              <a:t>・</a:t>
            </a:r>
            <a:endParaRPr lang="en-US" altLang="ja-JP" dirty="0"/>
          </a:p>
          <a:p>
            <a:r>
              <a:rPr lang="en-US" altLang="ja-JP" dirty="0"/>
              <a:t>        </a:t>
            </a:r>
            <a:r>
              <a:rPr lang="ja-JP" altLang="en-US"/>
              <a:t>粒子フィルター</a:t>
            </a:r>
            <a:r>
              <a:rPr lang="en-US" altLang="ja-JP" dirty="0"/>
              <a:t>, </a:t>
            </a:r>
            <a:r>
              <a:rPr lang="ja-JP" altLang="en-US"/>
              <a:t>技術評論社</a:t>
            </a:r>
            <a:r>
              <a:rPr lang="en-US" altLang="ja-JP" dirty="0"/>
              <a:t>,  2018</a:t>
            </a:r>
          </a:p>
          <a:p>
            <a:r>
              <a:rPr lang="ja-JP" altLang="en-US" dirty="0"/>
              <a:t>　　</a:t>
            </a:r>
            <a:endParaRPr lang="en-US" altLang="ja-JP" dirty="0"/>
          </a:p>
          <a:p>
            <a:r>
              <a:rPr lang="ja-JP" altLang="en-US" dirty="0"/>
              <a:t>　　</a:t>
            </a:r>
            <a:endParaRPr lang="ja-JP" altLang="en-US"/>
          </a:p>
          <a:p>
            <a:endParaRPr lang="ja-JP" altLang="en-US" dirty="0"/>
          </a:p>
          <a:p>
            <a:endParaRPr lang="ja-JP" altLang="en-US"/>
          </a:p>
          <a:p>
            <a:endParaRPr kumimoji="1" lang="ja-JP" altLang="en-US"/>
          </a:p>
        </p:txBody>
      </p:sp>
    </p:spTree>
    <p:extLst>
      <p:ext uri="{BB962C8B-B14F-4D97-AF65-F5344CB8AC3E}">
        <p14:creationId xmlns:p14="http://schemas.microsoft.com/office/powerpoint/2010/main" val="3406643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1D3AAA8-5E46-CEF1-2AD9-7365DFDB09A2}"/>
              </a:ext>
            </a:extLst>
          </p:cNvPr>
          <p:cNvSpPr>
            <a:spLocks noGrp="1"/>
          </p:cNvSpPr>
          <p:nvPr>
            <p:ph idx="1"/>
          </p:nvPr>
        </p:nvSpPr>
        <p:spPr/>
        <p:txBody>
          <a:bodyPr/>
          <a:lstStyle/>
          <a:p>
            <a:r>
              <a:rPr lang="ja-JP" altLang="en-US"/>
              <a:t>分析結果</a:t>
            </a:r>
            <a:endParaRPr kumimoji="1" lang="ja-JP" altLang="en-US"/>
          </a:p>
        </p:txBody>
      </p:sp>
      <p:sp>
        <p:nvSpPr>
          <p:cNvPr id="4" name="スライド番号プレースホルダー 3">
            <a:extLst>
              <a:ext uri="{FF2B5EF4-FFF2-40B4-BE49-F238E27FC236}">
                <a16:creationId xmlns:a16="http://schemas.microsoft.com/office/drawing/2014/main" id="{98D17FDC-3513-C5E1-CFC0-A3DA4AC1117C}"/>
              </a:ext>
            </a:extLst>
          </p:cNvPr>
          <p:cNvSpPr>
            <a:spLocks noGrp="1"/>
          </p:cNvSpPr>
          <p:nvPr>
            <p:ph type="sldNum" sz="quarter" idx="12"/>
          </p:nvPr>
        </p:nvSpPr>
        <p:spPr/>
        <p:txBody>
          <a:bodyPr/>
          <a:lstStyle/>
          <a:p>
            <a:fld id="{3B09FD7E-EA79-4AC9-B47C-47EE1A48B026}" type="slidenum">
              <a:rPr kumimoji="1" lang="ja-JP" altLang="en-US" smtClean="0"/>
              <a:t>7</a:t>
            </a:fld>
            <a:endParaRPr kumimoji="1" lang="ja-JP" altLang="en-US" dirty="0"/>
          </a:p>
        </p:txBody>
      </p:sp>
      <p:sp>
        <p:nvSpPr>
          <p:cNvPr id="5" name="タイトル 4">
            <a:extLst>
              <a:ext uri="{FF2B5EF4-FFF2-40B4-BE49-F238E27FC236}">
                <a16:creationId xmlns:a16="http://schemas.microsoft.com/office/drawing/2014/main" id="{654526F3-5B91-9E2F-1F3F-EF73EADE467C}"/>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8AF0DB4A-3F32-91C6-3D12-6024D487DD71}"/>
              </a:ext>
            </a:extLst>
          </p:cNvPr>
          <p:cNvSpPr>
            <a:spLocks noGrp="1"/>
          </p:cNvSpPr>
          <p:nvPr>
            <p:ph sz="quarter" idx="13"/>
          </p:nvPr>
        </p:nvSpPr>
        <p:spPr/>
        <p:txBody>
          <a:bodyPr/>
          <a:lstStyle/>
          <a:p>
            <a:r>
              <a:rPr lang="en-US" altLang="ja-JP" dirty="0"/>
              <a:t>(1)</a:t>
            </a:r>
            <a:r>
              <a:rPr lang="ja-JP" altLang="ja-JP"/>
              <a:t>目的の確認とデータの収集</a:t>
            </a:r>
            <a:endParaRPr lang="en-US" altLang="ja-JP" dirty="0"/>
          </a:p>
          <a:p>
            <a:endParaRPr lang="en-US" altLang="ja-JP" dirty="0"/>
          </a:p>
          <a:p>
            <a:r>
              <a:rPr lang="ja-JP" altLang="en-US"/>
              <a:t>・目的</a:t>
            </a:r>
            <a:endParaRPr lang="en-US" altLang="ja-JP" dirty="0"/>
          </a:p>
          <a:p>
            <a:r>
              <a:rPr kumimoji="1" lang="ja-JP" altLang="en-US"/>
              <a:t>　→</a:t>
            </a:r>
            <a:r>
              <a:rPr lang="ja-JP" altLang="ja-JP"/>
              <a:t>株価のデータについて傾向を捉え未来の株価を予測する</a:t>
            </a:r>
          </a:p>
          <a:p>
            <a:r>
              <a:rPr lang="ja-JP" altLang="en-US"/>
              <a:t>　　</a:t>
            </a:r>
            <a:r>
              <a:rPr lang="ja-JP" altLang="ja-JP"/>
              <a:t>急激な変化がある時点を発見し、どのような出来事が株価に大きな影響を与えるのか知りたい</a:t>
            </a:r>
            <a:endParaRPr lang="en-US" altLang="ja-JP" dirty="0"/>
          </a:p>
          <a:p>
            <a:endParaRPr lang="en-US" altLang="ja-JP" dirty="0"/>
          </a:p>
          <a:p>
            <a:r>
              <a:rPr lang="ja-JP" altLang="en-US"/>
              <a:t>・データの収集</a:t>
            </a:r>
            <a:endParaRPr lang="en-US" altLang="ja-JP" dirty="0"/>
          </a:p>
          <a:p>
            <a:r>
              <a:rPr lang="ja-JP" altLang="en-US"/>
              <a:t>　→データは</a:t>
            </a:r>
            <a:r>
              <a:rPr lang="en-US" altLang="ja-JP" dirty="0"/>
              <a:t>R</a:t>
            </a:r>
            <a:r>
              <a:rPr lang="ja-JP" altLang="en-US"/>
              <a:t>の</a:t>
            </a:r>
            <a:r>
              <a:rPr lang="en-US" altLang="ja-JP" dirty="0" err="1"/>
              <a:t>quantmod</a:t>
            </a:r>
            <a:r>
              <a:rPr lang="ja-JP" altLang="en-US"/>
              <a:t>を用いて</a:t>
            </a:r>
            <a:r>
              <a:rPr lang="en" altLang="ja-JP" dirty="0"/>
              <a:t>Yahoo!</a:t>
            </a:r>
            <a:r>
              <a:rPr lang="ja-JP" altLang="en-US"/>
              <a:t>ファイナンスから過去</a:t>
            </a:r>
            <a:r>
              <a:rPr lang="en-US" altLang="ja-JP"/>
              <a:t>10</a:t>
            </a:r>
            <a:r>
              <a:rPr lang="ja-JP" altLang="en-US"/>
              <a:t>年分の日経平均株価のデータを取得する</a:t>
            </a:r>
            <a:endParaRPr lang="ja-JP" altLang="ja-JP"/>
          </a:p>
          <a:p>
            <a:endParaRPr kumimoji="1" lang="en-US" altLang="ja-JP" dirty="0"/>
          </a:p>
        </p:txBody>
      </p:sp>
    </p:spTree>
    <p:extLst>
      <p:ext uri="{BB962C8B-B14F-4D97-AF65-F5344CB8AC3E}">
        <p14:creationId xmlns:p14="http://schemas.microsoft.com/office/powerpoint/2010/main" val="2522632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56AEF2A-1968-639F-E1DB-ADFF9E96394F}"/>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67E367CF-34B6-052B-9DE9-9017AFADCEB4}"/>
              </a:ext>
            </a:extLst>
          </p:cNvPr>
          <p:cNvSpPr>
            <a:spLocks noGrp="1"/>
          </p:cNvSpPr>
          <p:nvPr>
            <p:ph type="sldNum" sz="quarter" idx="12"/>
          </p:nvPr>
        </p:nvSpPr>
        <p:spPr/>
        <p:txBody>
          <a:bodyPr/>
          <a:lstStyle/>
          <a:p>
            <a:fld id="{3B09FD7E-EA79-4AC9-B47C-47EE1A48B026}" type="slidenum">
              <a:rPr kumimoji="1" lang="ja-JP" altLang="en-US" smtClean="0"/>
              <a:t>8</a:t>
            </a:fld>
            <a:endParaRPr kumimoji="1" lang="ja-JP" altLang="en-US" dirty="0"/>
          </a:p>
        </p:txBody>
      </p:sp>
      <p:sp>
        <p:nvSpPr>
          <p:cNvPr id="5" name="タイトル 4">
            <a:extLst>
              <a:ext uri="{FF2B5EF4-FFF2-40B4-BE49-F238E27FC236}">
                <a16:creationId xmlns:a16="http://schemas.microsoft.com/office/drawing/2014/main" id="{D2414D97-7F7D-B493-1C51-10B89316FAC6}"/>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A78EA3CE-E211-276F-9AF3-CBA77CFD4AAE}"/>
              </a:ext>
            </a:extLst>
          </p:cNvPr>
          <p:cNvSpPr>
            <a:spLocks noGrp="1"/>
          </p:cNvSpPr>
          <p:nvPr>
            <p:ph sz="quarter" idx="13"/>
          </p:nvPr>
        </p:nvSpPr>
        <p:spPr/>
        <p:txBody>
          <a:bodyPr/>
          <a:lstStyle/>
          <a:p>
            <a:r>
              <a:rPr kumimoji="1" lang="en-US" altLang="ja-JP"/>
              <a:t>(2)</a:t>
            </a:r>
            <a:r>
              <a:rPr kumimoji="1" lang="ja-JP" altLang="en-US"/>
              <a:t>データの下調べ</a:t>
            </a:r>
            <a:endParaRPr kumimoji="1" lang="en-US" altLang="ja-JP"/>
          </a:p>
          <a:p>
            <a:r>
              <a:rPr lang="ja-JP" altLang="en-US"/>
              <a:t>　</a:t>
            </a:r>
            <a:endParaRPr lang="en-US" altLang="ja-JP"/>
          </a:p>
          <a:p>
            <a:r>
              <a:rPr kumimoji="1" lang="ja-JP" altLang="en-US"/>
              <a:t>　・やること</a:t>
            </a:r>
            <a:endParaRPr kumimoji="1" lang="en-US" altLang="ja-JP"/>
          </a:p>
          <a:p>
            <a:r>
              <a:rPr lang="ja-JP" altLang="en-US"/>
              <a:t>　　→ヒストグラムと</a:t>
            </a:r>
            <a:r>
              <a:rPr lang="en-US" altLang="ja-JP"/>
              <a:t>5</a:t>
            </a:r>
            <a:r>
              <a:rPr lang="ja-JP" altLang="en-US"/>
              <a:t>数要約</a:t>
            </a:r>
            <a:endParaRPr lang="en-US" altLang="ja-JP"/>
          </a:p>
          <a:p>
            <a:r>
              <a:rPr lang="en-US" altLang="ja-JP"/>
              <a:t>             </a:t>
            </a:r>
            <a:r>
              <a:rPr lang="ja-JP" altLang="en-US"/>
              <a:t>横軸時間のプロット</a:t>
            </a:r>
            <a:endParaRPr lang="en-US" altLang="ja-JP"/>
          </a:p>
          <a:p>
            <a:r>
              <a:rPr lang="en-US" altLang="ja-JP"/>
              <a:t>             </a:t>
            </a:r>
            <a:r>
              <a:rPr lang="ja-JP" altLang="en-US"/>
              <a:t>自己相関係数</a:t>
            </a:r>
            <a:endParaRPr lang="en-US" altLang="ja-JP"/>
          </a:p>
          <a:p>
            <a:r>
              <a:rPr lang="en-US" altLang="ja-JP"/>
              <a:t>             </a:t>
            </a:r>
            <a:r>
              <a:rPr lang="ja-JP" altLang="en-US"/>
              <a:t>定常性の確認</a:t>
            </a:r>
          </a:p>
          <a:p>
            <a:endParaRPr kumimoji="1" lang="ja-JP" altLang="en-US"/>
          </a:p>
        </p:txBody>
      </p:sp>
    </p:spTree>
    <p:extLst>
      <p:ext uri="{BB962C8B-B14F-4D97-AF65-F5344CB8AC3E}">
        <p14:creationId xmlns:p14="http://schemas.microsoft.com/office/powerpoint/2010/main" val="698179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2B5F9E9-D093-3531-6E1B-693291CB4357}"/>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D0679F1A-5E9F-9B46-D281-67EBD18D0418}"/>
              </a:ext>
            </a:extLst>
          </p:cNvPr>
          <p:cNvSpPr>
            <a:spLocks noGrp="1"/>
          </p:cNvSpPr>
          <p:nvPr>
            <p:ph type="sldNum" sz="quarter" idx="12"/>
          </p:nvPr>
        </p:nvSpPr>
        <p:spPr/>
        <p:txBody>
          <a:bodyPr/>
          <a:lstStyle/>
          <a:p>
            <a:fld id="{3B09FD7E-EA79-4AC9-B47C-47EE1A48B026}" type="slidenum">
              <a:rPr kumimoji="1" lang="ja-JP" altLang="en-US" smtClean="0"/>
              <a:t>9</a:t>
            </a:fld>
            <a:endParaRPr kumimoji="1" lang="ja-JP" altLang="en-US" dirty="0"/>
          </a:p>
        </p:txBody>
      </p:sp>
      <p:sp>
        <p:nvSpPr>
          <p:cNvPr id="5" name="タイトル 4">
            <a:extLst>
              <a:ext uri="{FF2B5EF4-FFF2-40B4-BE49-F238E27FC236}">
                <a16:creationId xmlns:a16="http://schemas.microsoft.com/office/drawing/2014/main" id="{9AD01F0C-9EA7-F125-088D-7AE61F8D5A0B}"/>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5A302FF4-39FB-4C8B-CD0C-6B2F6AD9503E}"/>
              </a:ext>
            </a:extLst>
          </p:cNvPr>
          <p:cNvSpPr>
            <a:spLocks noGrp="1"/>
          </p:cNvSpPr>
          <p:nvPr>
            <p:ph sz="quarter" idx="13"/>
          </p:nvPr>
        </p:nvSpPr>
        <p:spPr>
          <a:xfrm>
            <a:off x="584778" y="1254982"/>
            <a:ext cx="5511222" cy="802232"/>
          </a:xfrm>
        </p:spPr>
        <p:txBody>
          <a:bodyPr/>
          <a:lstStyle/>
          <a:p>
            <a:r>
              <a:rPr kumimoji="1" lang="ja-JP" altLang="en-US"/>
              <a:t>・取得したデータ</a:t>
            </a:r>
            <a:endParaRPr kumimoji="1" lang="en-US" altLang="ja-JP"/>
          </a:p>
          <a:p>
            <a:r>
              <a:rPr lang="ja-JP" altLang="en-US"/>
              <a:t>　→ </a:t>
            </a:r>
            <a:r>
              <a:rPr lang="en-US" altLang="ja-JP"/>
              <a:t>2015</a:t>
            </a:r>
            <a:r>
              <a:rPr lang="ja-JP" altLang="en-US"/>
              <a:t>年から</a:t>
            </a:r>
            <a:r>
              <a:rPr lang="en-US" altLang="ja-JP"/>
              <a:t>2024</a:t>
            </a:r>
            <a:r>
              <a:rPr lang="ja-JP" altLang="en-US"/>
              <a:t>年までの</a:t>
            </a:r>
            <a:r>
              <a:rPr lang="en-US" altLang="ja-JP"/>
              <a:t>10</a:t>
            </a:r>
            <a:r>
              <a:rPr lang="ja-JP" altLang="en-US"/>
              <a:t>年分の日経平均株価データ</a:t>
            </a:r>
            <a:endParaRPr lang="en-US" altLang="ja-JP"/>
          </a:p>
          <a:p>
            <a:endParaRPr kumimoji="1" lang="en-US" altLang="ja-JP"/>
          </a:p>
          <a:p>
            <a:r>
              <a:rPr kumimoji="1" lang="ja-JP" altLang="en-US"/>
              <a:t>　　</a:t>
            </a:r>
          </a:p>
        </p:txBody>
      </p:sp>
      <p:sp>
        <p:nvSpPr>
          <p:cNvPr id="9" name="テキスト ボックス 8">
            <a:extLst>
              <a:ext uri="{FF2B5EF4-FFF2-40B4-BE49-F238E27FC236}">
                <a16:creationId xmlns:a16="http://schemas.microsoft.com/office/drawing/2014/main" id="{38441493-2625-196F-82F8-9AD2FAF423E2}"/>
              </a:ext>
            </a:extLst>
          </p:cNvPr>
          <p:cNvSpPr txBox="1"/>
          <p:nvPr/>
        </p:nvSpPr>
        <p:spPr>
          <a:xfrm>
            <a:off x="1015387" y="3722196"/>
            <a:ext cx="9106808" cy="2862322"/>
          </a:xfrm>
          <a:prstGeom prst="rect">
            <a:avLst/>
          </a:prstGeom>
          <a:noFill/>
        </p:spPr>
        <p:txBody>
          <a:bodyPr wrap="square" rtlCol="0">
            <a:spAutoFit/>
          </a:bodyPr>
          <a:lstStyle/>
          <a:p>
            <a:r>
              <a:rPr lang="en" altLang="ja-JP"/>
              <a:t>&gt; head(nikkei)</a:t>
            </a:r>
          </a:p>
          <a:p>
            <a:r>
              <a:rPr lang="en" altLang="ja-JP"/>
              <a:t>         </a:t>
            </a:r>
            <a:r>
              <a:rPr lang="ja-JP" altLang="en-US"/>
              <a:t>　　</a:t>
            </a:r>
            <a:r>
              <a:rPr lang="en-US" altLang="ja-JP"/>
              <a:t>    </a:t>
            </a:r>
            <a:r>
              <a:rPr lang="en" altLang="ja-JP"/>
              <a:t>N225.Open     N225.High.   N225.Low    N225.Close    N225.Volume    N225.Adjusted</a:t>
            </a:r>
          </a:p>
          <a:p>
            <a:r>
              <a:rPr lang="en" altLang="ja-JP"/>
              <a:t>2015-01-05   17325.68        17540.92      17219.22     17408.71        116500000        17408.71</a:t>
            </a:r>
          </a:p>
          <a:p>
            <a:r>
              <a:rPr lang="en" altLang="ja-JP"/>
              <a:t>2015-01-06   17101.58        17111.36      16881.73     16883.19        166000000        16883.19</a:t>
            </a:r>
          </a:p>
          <a:p>
            <a:r>
              <a:rPr lang="en" altLang="ja-JP"/>
              <a:t>2015-01-07   16808.26        16974.61      16808.26     16885.33        138600000        16885.33</a:t>
            </a:r>
          </a:p>
          <a:p>
            <a:r>
              <a:rPr lang="en" altLang="ja-JP"/>
              <a:t>2015-01-08   17067.40        17243.71.     17016.09     17167.10        140600000        17167.10</a:t>
            </a:r>
          </a:p>
          <a:p>
            <a:r>
              <a:rPr lang="en" altLang="ja-JP"/>
              <a:t>2015-01-09   17318.74        17342.65      17129.53     17197.73        155200000        17197.73</a:t>
            </a:r>
          </a:p>
          <a:p>
            <a:r>
              <a:rPr lang="en" altLang="ja-JP"/>
              <a:t>2015-01-13   16970.88        17087.71      16828.27     17087.71        149200000        17087.71</a:t>
            </a:r>
          </a:p>
          <a:p>
            <a:r>
              <a:rPr lang="en" altLang="ja-JP"/>
              <a:t>&gt; class(nikkei)</a:t>
            </a:r>
          </a:p>
          <a:p>
            <a:r>
              <a:rPr lang="en" altLang="ja-JP"/>
              <a:t>[1] "xts" "zoo"</a:t>
            </a:r>
            <a:endParaRPr kumimoji="1" lang="ja-JP" altLang="en-US"/>
          </a:p>
        </p:txBody>
      </p:sp>
      <p:sp>
        <p:nvSpPr>
          <p:cNvPr id="10" name="テキスト ボックス 9">
            <a:extLst>
              <a:ext uri="{FF2B5EF4-FFF2-40B4-BE49-F238E27FC236}">
                <a16:creationId xmlns:a16="http://schemas.microsoft.com/office/drawing/2014/main" id="{AC065680-309C-0186-D462-AFBCC1B0B1B3}"/>
              </a:ext>
            </a:extLst>
          </p:cNvPr>
          <p:cNvSpPr txBox="1"/>
          <p:nvPr/>
        </p:nvSpPr>
        <p:spPr>
          <a:xfrm>
            <a:off x="1015387" y="1967870"/>
            <a:ext cx="4114800" cy="1754326"/>
          </a:xfrm>
          <a:prstGeom prst="rect">
            <a:avLst/>
          </a:prstGeom>
          <a:noFill/>
        </p:spPr>
        <p:txBody>
          <a:bodyPr wrap="square" rtlCol="0">
            <a:spAutoFit/>
          </a:bodyPr>
          <a:lstStyle/>
          <a:p>
            <a:r>
              <a:rPr lang="en" altLang="ja-JP"/>
              <a:t>&gt; library(quantmod)</a:t>
            </a:r>
          </a:p>
          <a:p>
            <a:r>
              <a:rPr lang="en" altLang="ja-JP"/>
              <a:t>&gt; nikkei &lt;- getSymbols(Symbols = "^N225", </a:t>
            </a:r>
          </a:p>
          <a:p>
            <a:r>
              <a:rPr lang="en" altLang="ja-JP"/>
              <a:t>+                  src = "yahoo",</a:t>
            </a:r>
          </a:p>
          <a:p>
            <a:r>
              <a:rPr lang="en" altLang="ja-JP"/>
              <a:t>+                  from = "2015-01-01",</a:t>
            </a:r>
          </a:p>
          <a:p>
            <a:r>
              <a:rPr lang="en" altLang="ja-JP"/>
              <a:t>+                  to = "2024-12-31",</a:t>
            </a:r>
          </a:p>
          <a:p>
            <a:r>
              <a:rPr lang="en" altLang="ja-JP"/>
              <a:t>+                  auto.assign = FALSE)</a:t>
            </a:r>
            <a:endParaRPr kumimoji="1" lang="ja-JP" altLang="en-US"/>
          </a:p>
        </p:txBody>
      </p:sp>
    </p:spTree>
    <p:extLst>
      <p:ext uri="{BB962C8B-B14F-4D97-AF65-F5344CB8AC3E}">
        <p14:creationId xmlns:p14="http://schemas.microsoft.com/office/powerpoint/2010/main" val="1853904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56FC93D-5084-479E-B963-A5FF49338D7C}"/>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0DEF6B67-F2C9-B6B3-2FA7-5EF51C01829B}"/>
              </a:ext>
            </a:extLst>
          </p:cNvPr>
          <p:cNvSpPr>
            <a:spLocks noGrp="1"/>
          </p:cNvSpPr>
          <p:nvPr>
            <p:ph type="sldNum" sz="quarter" idx="12"/>
          </p:nvPr>
        </p:nvSpPr>
        <p:spPr/>
        <p:txBody>
          <a:bodyPr/>
          <a:lstStyle/>
          <a:p>
            <a:fld id="{3B09FD7E-EA79-4AC9-B47C-47EE1A48B026}" type="slidenum">
              <a:rPr kumimoji="1" lang="ja-JP" altLang="en-US" smtClean="0"/>
              <a:t>10</a:t>
            </a:fld>
            <a:endParaRPr kumimoji="1" lang="ja-JP" altLang="en-US" dirty="0"/>
          </a:p>
        </p:txBody>
      </p:sp>
      <p:sp>
        <p:nvSpPr>
          <p:cNvPr id="5" name="タイトル 4">
            <a:extLst>
              <a:ext uri="{FF2B5EF4-FFF2-40B4-BE49-F238E27FC236}">
                <a16:creationId xmlns:a16="http://schemas.microsoft.com/office/drawing/2014/main" id="{DBDEED50-7641-89F4-B76E-7A0C8745F9BA}"/>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B0D35FF2-B47D-5B0F-0A40-F5F7FED70D9C}"/>
              </a:ext>
            </a:extLst>
          </p:cNvPr>
          <p:cNvSpPr>
            <a:spLocks noGrp="1"/>
          </p:cNvSpPr>
          <p:nvPr>
            <p:ph sz="quarter" idx="13"/>
          </p:nvPr>
        </p:nvSpPr>
        <p:spPr>
          <a:xfrm>
            <a:off x="584779" y="1579852"/>
            <a:ext cx="4958772" cy="228600"/>
          </a:xfrm>
        </p:spPr>
        <p:txBody>
          <a:bodyPr/>
          <a:lstStyle/>
          <a:p>
            <a:r>
              <a:rPr kumimoji="1" lang="ja-JP" altLang="en-US"/>
              <a:t>・ヒストグラムと</a:t>
            </a:r>
            <a:r>
              <a:rPr kumimoji="1" lang="en-US" altLang="ja-JP"/>
              <a:t>5</a:t>
            </a:r>
            <a:r>
              <a:rPr kumimoji="1" lang="ja-JP" altLang="en-US"/>
              <a:t>数要約</a:t>
            </a:r>
          </a:p>
        </p:txBody>
      </p:sp>
      <p:sp>
        <p:nvSpPr>
          <p:cNvPr id="7" name="テキスト ボックス 6">
            <a:extLst>
              <a:ext uri="{FF2B5EF4-FFF2-40B4-BE49-F238E27FC236}">
                <a16:creationId xmlns:a16="http://schemas.microsoft.com/office/drawing/2014/main" id="{4FBD020D-1A59-0597-E5AF-7CB35FE869C5}"/>
              </a:ext>
            </a:extLst>
          </p:cNvPr>
          <p:cNvSpPr txBox="1"/>
          <p:nvPr/>
        </p:nvSpPr>
        <p:spPr>
          <a:xfrm>
            <a:off x="584779" y="2228850"/>
            <a:ext cx="4730171" cy="3693319"/>
          </a:xfrm>
          <a:prstGeom prst="rect">
            <a:avLst/>
          </a:prstGeom>
          <a:noFill/>
        </p:spPr>
        <p:txBody>
          <a:bodyPr wrap="square" rtlCol="0">
            <a:spAutoFit/>
          </a:bodyPr>
          <a:lstStyle/>
          <a:p>
            <a:r>
              <a:rPr lang="en" altLang="ja-JP"/>
              <a:t>&gt; nikkei_cl &lt;- Cl(nikkei)</a:t>
            </a:r>
          </a:p>
          <a:p>
            <a:r>
              <a:rPr lang="en" altLang="ja-JP"/>
              <a:t>&gt; summary(nikkei_cl)</a:t>
            </a:r>
          </a:p>
          <a:p>
            <a:r>
              <a:rPr lang="en" altLang="ja-JP"/>
              <a:t>     Index              </a:t>
            </a:r>
            <a:r>
              <a:rPr lang="ja-JP" altLang="en-US"/>
              <a:t>　　</a:t>
            </a:r>
            <a:r>
              <a:rPr lang="en-US" altLang="ja-JP"/>
              <a:t>        </a:t>
            </a:r>
            <a:r>
              <a:rPr lang="en" altLang="ja-JP"/>
              <a:t>N225.Close   </a:t>
            </a:r>
          </a:p>
          <a:p>
            <a:r>
              <a:rPr lang="en" altLang="ja-JP"/>
              <a:t> Min.       :2015-01-05        Min.      :14952  </a:t>
            </a:r>
          </a:p>
          <a:p>
            <a:r>
              <a:rPr lang="en" altLang="ja-JP"/>
              <a:t> 1st Qu.   :2017-06-30       1st Qu.  :20013  </a:t>
            </a:r>
          </a:p>
          <a:p>
            <a:r>
              <a:rPr lang="en" altLang="ja-JP"/>
              <a:t> Median  :2019-12-30       Median  :22823  </a:t>
            </a:r>
          </a:p>
          <a:p>
            <a:r>
              <a:rPr lang="en" altLang="ja-JP"/>
              <a:t> Mean      :2020-01-02      Mean     :24832  </a:t>
            </a:r>
          </a:p>
          <a:p>
            <a:r>
              <a:rPr lang="en" altLang="ja-JP"/>
              <a:t> 3rd Qu.   :2022-07-06      3rd Qu.  :28451  </a:t>
            </a:r>
          </a:p>
          <a:p>
            <a:r>
              <a:rPr lang="en" altLang="ja-JP"/>
              <a:t> Max.        :2024-12-30      Max.      :42224</a:t>
            </a:r>
          </a:p>
          <a:p>
            <a:r>
              <a:rPr lang="en" altLang="ja-JP"/>
              <a:t>                                             NA's       :21</a:t>
            </a:r>
          </a:p>
          <a:p>
            <a:r>
              <a:rPr lang="en" altLang="ja-JP"/>
              <a:t>&gt; nikkei_cl &lt;- na.omit(nikkei_cl)</a:t>
            </a:r>
          </a:p>
          <a:p>
            <a:r>
              <a:rPr lang="en" altLang="ja-JP"/>
              <a:t>&gt; hist(nikkei_cl)</a:t>
            </a:r>
          </a:p>
          <a:p>
            <a:r>
              <a:rPr lang="en" altLang="ja-JP"/>
              <a:t> </a:t>
            </a:r>
            <a:endParaRPr kumimoji="1" lang="ja-JP" altLang="en-US"/>
          </a:p>
        </p:txBody>
      </p:sp>
      <p:pic>
        <p:nvPicPr>
          <p:cNvPr id="8" name="図 7">
            <a:extLst>
              <a:ext uri="{FF2B5EF4-FFF2-40B4-BE49-F238E27FC236}">
                <a16:creationId xmlns:a16="http://schemas.microsoft.com/office/drawing/2014/main" id="{4650611C-D44F-7629-9A42-FC53A77DBAE4}"/>
              </a:ext>
            </a:extLst>
          </p:cNvPr>
          <p:cNvPicPr>
            <a:picLocks noChangeAspect="1"/>
          </p:cNvPicPr>
          <p:nvPr/>
        </p:nvPicPr>
        <p:blipFill>
          <a:blip r:embed="rId2"/>
          <a:stretch>
            <a:fillRect/>
          </a:stretch>
        </p:blipFill>
        <p:spPr>
          <a:xfrm>
            <a:off x="5716479" y="790574"/>
            <a:ext cx="5292941" cy="5791200"/>
          </a:xfrm>
          <a:prstGeom prst="rect">
            <a:avLst/>
          </a:prstGeom>
        </p:spPr>
      </p:pic>
    </p:spTree>
    <p:extLst>
      <p:ext uri="{BB962C8B-B14F-4D97-AF65-F5344CB8AC3E}">
        <p14:creationId xmlns:p14="http://schemas.microsoft.com/office/powerpoint/2010/main" val="1703009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17732FD-C322-32BE-3B05-8F7AD4F0A3AC}"/>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5057F959-98CB-61EF-60B1-D6146FDEAB60}"/>
              </a:ext>
            </a:extLst>
          </p:cNvPr>
          <p:cNvSpPr>
            <a:spLocks noGrp="1"/>
          </p:cNvSpPr>
          <p:nvPr>
            <p:ph type="sldNum" sz="quarter" idx="12"/>
          </p:nvPr>
        </p:nvSpPr>
        <p:spPr/>
        <p:txBody>
          <a:bodyPr/>
          <a:lstStyle/>
          <a:p>
            <a:fld id="{3B09FD7E-EA79-4AC9-B47C-47EE1A48B026}" type="slidenum">
              <a:rPr kumimoji="1" lang="ja-JP" altLang="en-US" smtClean="0"/>
              <a:t>11</a:t>
            </a:fld>
            <a:endParaRPr kumimoji="1" lang="ja-JP" altLang="en-US" dirty="0"/>
          </a:p>
        </p:txBody>
      </p:sp>
      <p:sp>
        <p:nvSpPr>
          <p:cNvPr id="5" name="タイトル 4">
            <a:extLst>
              <a:ext uri="{FF2B5EF4-FFF2-40B4-BE49-F238E27FC236}">
                <a16:creationId xmlns:a16="http://schemas.microsoft.com/office/drawing/2014/main" id="{1EF2AF18-BA85-E2BC-3D79-1AE9A6F818A4}"/>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E2D2ABDE-CB3B-EB51-37FE-5C149FA3DEF5}"/>
              </a:ext>
            </a:extLst>
          </p:cNvPr>
          <p:cNvSpPr>
            <a:spLocks noGrp="1"/>
          </p:cNvSpPr>
          <p:nvPr>
            <p:ph sz="quarter" idx="13"/>
          </p:nvPr>
        </p:nvSpPr>
        <p:spPr>
          <a:xfrm>
            <a:off x="584778" y="1579852"/>
            <a:ext cx="11022443" cy="228600"/>
          </a:xfrm>
        </p:spPr>
        <p:txBody>
          <a:bodyPr/>
          <a:lstStyle/>
          <a:p>
            <a:r>
              <a:rPr kumimoji="1" lang="ja-JP" altLang="en-US"/>
              <a:t>・横軸時間のプロット</a:t>
            </a:r>
            <a:endParaRPr kumimoji="1" lang="en-US" altLang="ja-JP"/>
          </a:p>
          <a:p>
            <a:r>
              <a:rPr lang="ja-JP" altLang="en-US"/>
              <a:t>　</a:t>
            </a:r>
            <a:endParaRPr lang="en-US" altLang="ja-JP"/>
          </a:p>
        </p:txBody>
      </p:sp>
      <p:sp>
        <p:nvSpPr>
          <p:cNvPr id="7" name="テキスト ボックス 6">
            <a:extLst>
              <a:ext uri="{FF2B5EF4-FFF2-40B4-BE49-F238E27FC236}">
                <a16:creationId xmlns:a16="http://schemas.microsoft.com/office/drawing/2014/main" id="{A84E515C-A588-2B30-EF65-2804D18C3101}"/>
              </a:ext>
            </a:extLst>
          </p:cNvPr>
          <p:cNvSpPr txBox="1"/>
          <p:nvPr/>
        </p:nvSpPr>
        <p:spPr>
          <a:xfrm>
            <a:off x="966548" y="2016704"/>
            <a:ext cx="3867150" cy="646331"/>
          </a:xfrm>
          <a:prstGeom prst="rect">
            <a:avLst/>
          </a:prstGeom>
          <a:noFill/>
        </p:spPr>
        <p:txBody>
          <a:bodyPr wrap="square" rtlCol="0">
            <a:spAutoFit/>
          </a:bodyPr>
          <a:lstStyle/>
          <a:p>
            <a:endParaRPr lang="en" altLang="ja-JP"/>
          </a:p>
          <a:p>
            <a:r>
              <a:rPr lang="en" altLang="ja-JP"/>
              <a:t>&gt; plot(nikkei_cl)</a:t>
            </a:r>
            <a:endParaRPr kumimoji="1" lang="ja-JP" altLang="en-US"/>
          </a:p>
        </p:txBody>
      </p:sp>
      <p:pic>
        <p:nvPicPr>
          <p:cNvPr id="8" name="図 7">
            <a:extLst>
              <a:ext uri="{FF2B5EF4-FFF2-40B4-BE49-F238E27FC236}">
                <a16:creationId xmlns:a16="http://schemas.microsoft.com/office/drawing/2014/main" id="{297FBDB6-AB9F-B1B4-EB4D-F22BF718BB8F}"/>
              </a:ext>
            </a:extLst>
          </p:cNvPr>
          <p:cNvPicPr>
            <a:picLocks noChangeAspect="1"/>
          </p:cNvPicPr>
          <p:nvPr/>
        </p:nvPicPr>
        <p:blipFill>
          <a:blip r:embed="rId2"/>
          <a:stretch>
            <a:fillRect/>
          </a:stretch>
        </p:blipFill>
        <p:spPr>
          <a:xfrm>
            <a:off x="5215468" y="970484"/>
            <a:ext cx="5422900" cy="5311469"/>
          </a:xfrm>
          <a:prstGeom prst="rect">
            <a:avLst/>
          </a:prstGeom>
        </p:spPr>
      </p:pic>
      <p:sp>
        <p:nvSpPr>
          <p:cNvPr id="9" name="テキスト ボックス 8">
            <a:extLst>
              <a:ext uri="{FF2B5EF4-FFF2-40B4-BE49-F238E27FC236}">
                <a16:creationId xmlns:a16="http://schemas.microsoft.com/office/drawing/2014/main" id="{1CDB49D1-8277-A167-BA07-A89617DDC07C}"/>
              </a:ext>
            </a:extLst>
          </p:cNvPr>
          <p:cNvSpPr txBox="1"/>
          <p:nvPr/>
        </p:nvSpPr>
        <p:spPr>
          <a:xfrm>
            <a:off x="742950" y="3429000"/>
            <a:ext cx="3371850" cy="1200329"/>
          </a:xfrm>
          <a:prstGeom prst="rect">
            <a:avLst/>
          </a:prstGeom>
          <a:noFill/>
        </p:spPr>
        <p:txBody>
          <a:bodyPr wrap="square" rtlCol="0">
            <a:spAutoFit/>
          </a:bodyPr>
          <a:lstStyle/>
          <a:p>
            <a:r>
              <a:rPr kumimoji="1" lang="ja-JP" altLang="en-US"/>
              <a:t>不規則な変動が続いており、特別な周期性は見られない。</a:t>
            </a:r>
            <a:endParaRPr kumimoji="1" lang="en-US" altLang="ja-JP"/>
          </a:p>
          <a:p>
            <a:endParaRPr kumimoji="1" lang="ja-JP" altLang="en-US"/>
          </a:p>
          <a:p>
            <a:r>
              <a:rPr kumimoji="1" lang="ja-JP" altLang="en-US"/>
              <a:t>やや右肩上がりの傾向あり </a:t>
            </a:r>
          </a:p>
        </p:txBody>
      </p:sp>
    </p:spTree>
    <p:extLst>
      <p:ext uri="{BB962C8B-B14F-4D97-AF65-F5344CB8AC3E}">
        <p14:creationId xmlns:p14="http://schemas.microsoft.com/office/powerpoint/2010/main" val="4170707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621F821-8193-BB41-C0A2-7990D5D2D655}"/>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2F4EA69A-9845-D967-A1EB-D3F0A2A5942D}"/>
              </a:ext>
            </a:extLst>
          </p:cNvPr>
          <p:cNvSpPr>
            <a:spLocks noGrp="1"/>
          </p:cNvSpPr>
          <p:nvPr>
            <p:ph type="sldNum" sz="quarter" idx="12"/>
          </p:nvPr>
        </p:nvSpPr>
        <p:spPr/>
        <p:txBody>
          <a:bodyPr/>
          <a:lstStyle/>
          <a:p>
            <a:fld id="{3B09FD7E-EA79-4AC9-B47C-47EE1A48B026}" type="slidenum">
              <a:rPr kumimoji="1" lang="ja-JP" altLang="en-US" smtClean="0"/>
              <a:t>12</a:t>
            </a:fld>
            <a:endParaRPr kumimoji="1" lang="ja-JP" altLang="en-US" dirty="0"/>
          </a:p>
        </p:txBody>
      </p:sp>
      <p:sp>
        <p:nvSpPr>
          <p:cNvPr id="5" name="タイトル 4">
            <a:extLst>
              <a:ext uri="{FF2B5EF4-FFF2-40B4-BE49-F238E27FC236}">
                <a16:creationId xmlns:a16="http://schemas.microsoft.com/office/drawing/2014/main" id="{D2B29D6C-2ECA-B75F-A3A9-FC007706F89F}"/>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C9B04EA1-AB9A-96B6-309D-D9AB61553287}"/>
              </a:ext>
            </a:extLst>
          </p:cNvPr>
          <p:cNvSpPr>
            <a:spLocks noGrp="1"/>
          </p:cNvSpPr>
          <p:nvPr>
            <p:ph sz="quarter" idx="13"/>
          </p:nvPr>
        </p:nvSpPr>
        <p:spPr/>
        <p:txBody>
          <a:bodyPr/>
          <a:lstStyle/>
          <a:p>
            <a:r>
              <a:rPr kumimoji="1" lang="ja-JP" altLang="en-US"/>
              <a:t>・自己相関係数</a:t>
            </a:r>
            <a:endParaRPr kumimoji="1" lang="en-US" altLang="ja-JP"/>
          </a:p>
          <a:p>
            <a:endParaRPr lang="en-US" altLang="ja-JP"/>
          </a:p>
          <a:p>
            <a:r>
              <a:rPr kumimoji="1" lang="ja-JP" altLang="en-US"/>
              <a:t>　</a:t>
            </a:r>
            <a:r>
              <a:rPr lang="en" altLang="ja-JP"/>
              <a:t>&gt; acf(nikkei_cl) </a:t>
            </a:r>
          </a:p>
          <a:p>
            <a:endParaRPr kumimoji="1" lang="en" altLang="ja-JP"/>
          </a:p>
          <a:p>
            <a:r>
              <a:rPr kumimoji="1" lang="ja-JP" altLang="en-US"/>
              <a:t>　自己相関係数は非常に大きい時系列分析は可能</a:t>
            </a:r>
            <a:endParaRPr kumimoji="1" lang="en-US" altLang="ja-JP"/>
          </a:p>
          <a:p>
            <a:r>
              <a:rPr lang="ja-JP" altLang="en-US"/>
              <a:t>　やはり周期性は見られない</a:t>
            </a:r>
            <a:endParaRPr kumimoji="1" lang="ja-JP" altLang="en-US"/>
          </a:p>
        </p:txBody>
      </p:sp>
      <p:pic>
        <p:nvPicPr>
          <p:cNvPr id="7" name="図 6">
            <a:extLst>
              <a:ext uri="{FF2B5EF4-FFF2-40B4-BE49-F238E27FC236}">
                <a16:creationId xmlns:a16="http://schemas.microsoft.com/office/drawing/2014/main" id="{03E94E39-12EE-A9AE-C060-093DAE952473}"/>
              </a:ext>
            </a:extLst>
          </p:cNvPr>
          <p:cNvPicPr>
            <a:picLocks noChangeAspect="1"/>
          </p:cNvPicPr>
          <p:nvPr/>
        </p:nvPicPr>
        <p:blipFill>
          <a:blip r:embed="rId2"/>
          <a:stretch>
            <a:fillRect/>
          </a:stretch>
        </p:blipFill>
        <p:spPr>
          <a:xfrm>
            <a:off x="6592779" y="859382"/>
            <a:ext cx="4818171" cy="5429250"/>
          </a:xfrm>
          <a:prstGeom prst="rect">
            <a:avLst/>
          </a:prstGeom>
        </p:spPr>
      </p:pic>
    </p:spTree>
    <p:extLst>
      <p:ext uri="{BB962C8B-B14F-4D97-AF65-F5344CB8AC3E}">
        <p14:creationId xmlns:p14="http://schemas.microsoft.com/office/powerpoint/2010/main" val="1073406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4A499952-7777-20EB-4DEB-9E603568D426}"/>
              </a:ext>
            </a:extLst>
          </p:cNvPr>
          <p:cNvSpPr>
            <a:spLocks noGrp="1"/>
          </p:cNvSpPr>
          <p:nvPr>
            <p:ph idx="1"/>
          </p:nvPr>
        </p:nvSpPr>
        <p:spPr/>
        <p:txBody>
          <a:bodyPr/>
          <a:lstStyle/>
          <a:p>
            <a:r>
              <a:rPr lang="ja-JP" altLang="en-US"/>
              <a:t>分析結果</a:t>
            </a:r>
            <a:endParaRPr kumimoji="1" lang="ja-JP" altLang="en-US"/>
          </a:p>
        </p:txBody>
      </p:sp>
      <p:sp>
        <p:nvSpPr>
          <p:cNvPr id="4" name="スライド番号プレースホルダー 3">
            <a:extLst>
              <a:ext uri="{FF2B5EF4-FFF2-40B4-BE49-F238E27FC236}">
                <a16:creationId xmlns:a16="http://schemas.microsoft.com/office/drawing/2014/main" id="{42F8A784-BDE0-FBB0-0AF9-2430941022E4}"/>
              </a:ext>
            </a:extLst>
          </p:cNvPr>
          <p:cNvSpPr>
            <a:spLocks noGrp="1"/>
          </p:cNvSpPr>
          <p:nvPr>
            <p:ph type="sldNum" sz="quarter" idx="12"/>
          </p:nvPr>
        </p:nvSpPr>
        <p:spPr/>
        <p:txBody>
          <a:bodyPr/>
          <a:lstStyle/>
          <a:p>
            <a:fld id="{3B09FD7E-EA79-4AC9-B47C-47EE1A48B026}" type="slidenum">
              <a:rPr kumimoji="1" lang="ja-JP" altLang="en-US" smtClean="0"/>
              <a:t>13</a:t>
            </a:fld>
            <a:endParaRPr kumimoji="1" lang="ja-JP" altLang="en-US" dirty="0"/>
          </a:p>
        </p:txBody>
      </p:sp>
      <p:sp>
        <p:nvSpPr>
          <p:cNvPr id="5" name="タイトル 4">
            <a:extLst>
              <a:ext uri="{FF2B5EF4-FFF2-40B4-BE49-F238E27FC236}">
                <a16:creationId xmlns:a16="http://schemas.microsoft.com/office/drawing/2014/main" id="{D823903D-3E49-FCCF-30A9-EAB0797C676F}"/>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4A60AAF6-7AC0-F31B-493C-F9B70EF3A806}"/>
              </a:ext>
            </a:extLst>
          </p:cNvPr>
          <p:cNvSpPr>
            <a:spLocks noGrp="1"/>
          </p:cNvSpPr>
          <p:nvPr>
            <p:ph sz="quarter" idx="13"/>
          </p:nvPr>
        </p:nvSpPr>
        <p:spPr>
          <a:xfrm>
            <a:off x="584778" y="1579851"/>
            <a:ext cx="11022443" cy="4372215"/>
          </a:xfrm>
        </p:spPr>
        <p:txBody>
          <a:bodyPr/>
          <a:lstStyle/>
          <a:p>
            <a:r>
              <a:rPr kumimoji="1" lang="ja-JP" altLang="en-US"/>
              <a:t>・定常性の検証</a:t>
            </a:r>
            <a:endParaRPr kumimoji="1" lang="en-US" altLang="ja-JP"/>
          </a:p>
          <a:p>
            <a:r>
              <a:rPr lang="ja-JP" altLang="en-US"/>
              <a:t>　→横軸時間のプロットから非定常の可能性が高いが、正確性のために</a:t>
            </a:r>
            <a:r>
              <a:rPr lang="en-US" altLang="ja-JP"/>
              <a:t>ADF</a:t>
            </a:r>
            <a:r>
              <a:rPr lang="ja-JP" altLang="en-US"/>
              <a:t>検定で定常性について検証する。</a:t>
            </a:r>
            <a:endParaRPr lang="en-US" altLang="ja-JP"/>
          </a:p>
          <a:p>
            <a:r>
              <a:rPr lang="ja-JP" altLang="en-US"/>
              <a:t>　　</a:t>
            </a:r>
            <a:r>
              <a:rPr lang="en-US" altLang="ja-JP"/>
              <a:t>ADF</a:t>
            </a:r>
            <a:r>
              <a:rPr lang="ja-JP" altLang="en-US"/>
              <a:t>検定は単位根検定の一種である。</a:t>
            </a:r>
            <a:r>
              <a:rPr lang="en-US" altLang="ja-JP"/>
              <a:t>ADF</a:t>
            </a:r>
            <a:r>
              <a:rPr lang="ja-JP" altLang="en-US"/>
              <a:t>検定の理論を理解するためには</a:t>
            </a:r>
            <a:r>
              <a:rPr lang="en-US" altLang="ja-JP"/>
              <a:t>AR</a:t>
            </a:r>
            <a:r>
              <a:rPr lang="ja-JP" altLang="en-US"/>
              <a:t>過程に関する知識が必須のため</a:t>
            </a:r>
            <a:endParaRPr lang="en-US" altLang="ja-JP"/>
          </a:p>
          <a:p>
            <a:r>
              <a:rPr lang="ja-JP" altLang="en-US"/>
              <a:t>　　先に代表的な時系列過程についてまとめる。</a:t>
            </a:r>
            <a:endParaRPr lang="en-US" altLang="ja-JP"/>
          </a:p>
          <a:p>
            <a:endParaRPr lang="en-US" altLang="ja-JP"/>
          </a:p>
          <a:p>
            <a:r>
              <a:rPr lang="ja-JP" altLang="en-US"/>
              <a:t>　</a:t>
            </a:r>
            <a:endParaRPr lang="en-US" altLang="ja-JP"/>
          </a:p>
          <a:p>
            <a:r>
              <a:rPr lang="ja-JP" altLang="en-US"/>
              <a:t>　以下のスライドでは下記の書籍を参考文献としている。</a:t>
            </a:r>
            <a:endParaRPr lang="en-US" altLang="ja-JP"/>
          </a:p>
          <a:p>
            <a:r>
              <a:rPr lang="ja-JP" altLang="en-US"/>
              <a:t>　</a:t>
            </a:r>
            <a:endParaRPr lang="en-US" altLang="ja-JP"/>
          </a:p>
          <a:p>
            <a:r>
              <a:rPr lang="ja-JP" altLang="en-US"/>
              <a:t>　</a:t>
            </a:r>
            <a:r>
              <a:rPr lang="ja-JP" altLang="ja-JP"/>
              <a:t>村尾 博</a:t>
            </a:r>
            <a:r>
              <a:rPr lang="en-US" altLang="ja-JP"/>
              <a:t>, R</a:t>
            </a:r>
            <a:r>
              <a:rPr lang="ja-JP" altLang="ja-JP"/>
              <a:t>で学ぶ</a:t>
            </a:r>
            <a:r>
              <a:rPr lang="en-US" altLang="ja-JP"/>
              <a:t>VAR</a:t>
            </a:r>
            <a:r>
              <a:rPr lang="ja-JP" altLang="ja-JP"/>
              <a:t>実証分析</a:t>
            </a:r>
            <a:r>
              <a:rPr lang="en-US" altLang="ja-JP"/>
              <a:t>―</a:t>
            </a:r>
            <a:r>
              <a:rPr lang="ja-JP" altLang="ja-JP"/>
              <a:t>時系列分析の基礎から予測まで</a:t>
            </a:r>
            <a:r>
              <a:rPr lang="en-US" altLang="ja-JP"/>
              <a:t>[</a:t>
            </a:r>
            <a:r>
              <a:rPr lang="ja-JP" altLang="ja-JP"/>
              <a:t>改訂</a:t>
            </a:r>
            <a:r>
              <a:rPr lang="en-US" altLang="ja-JP"/>
              <a:t>2</a:t>
            </a:r>
            <a:r>
              <a:rPr lang="ja-JP" altLang="ja-JP"/>
              <a:t>版</a:t>
            </a:r>
            <a:r>
              <a:rPr lang="en-US" altLang="ja-JP"/>
              <a:t>], </a:t>
            </a:r>
            <a:r>
              <a:rPr lang="ja-JP" altLang="ja-JP"/>
              <a:t>オーム社</a:t>
            </a:r>
            <a:r>
              <a:rPr lang="en-US" altLang="ja-JP"/>
              <a:t>, 2024</a:t>
            </a:r>
            <a:endParaRPr lang="ja-JP" altLang="ja-JP"/>
          </a:p>
          <a:p>
            <a:endParaRPr lang="en-US" altLang="ja-JP"/>
          </a:p>
          <a:p>
            <a:endParaRPr lang="en-US" altLang="ja-JP"/>
          </a:p>
          <a:p>
            <a:endParaRPr lang="en-US" altLang="ja-JP"/>
          </a:p>
          <a:p>
            <a:r>
              <a:rPr kumimoji="1" lang="ja-JP" altLang="en-US"/>
              <a:t>　　</a:t>
            </a:r>
          </a:p>
        </p:txBody>
      </p:sp>
    </p:spTree>
    <p:extLst>
      <p:ext uri="{BB962C8B-B14F-4D97-AF65-F5344CB8AC3E}">
        <p14:creationId xmlns:p14="http://schemas.microsoft.com/office/powerpoint/2010/main" val="3968836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395232E-F21F-0718-B222-FE38CBEBD8E9}"/>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7B42E2F9-C4D8-A9FF-394B-8C5ACA4D1588}"/>
              </a:ext>
            </a:extLst>
          </p:cNvPr>
          <p:cNvSpPr>
            <a:spLocks noGrp="1"/>
          </p:cNvSpPr>
          <p:nvPr>
            <p:ph type="sldNum" sz="quarter" idx="12"/>
          </p:nvPr>
        </p:nvSpPr>
        <p:spPr/>
        <p:txBody>
          <a:bodyPr/>
          <a:lstStyle/>
          <a:p>
            <a:fld id="{3B09FD7E-EA79-4AC9-B47C-47EE1A48B026}" type="slidenum">
              <a:rPr kumimoji="1" lang="ja-JP" altLang="en-US" smtClean="0"/>
              <a:t>14</a:t>
            </a:fld>
            <a:endParaRPr kumimoji="1" lang="ja-JP" altLang="en-US" dirty="0"/>
          </a:p>
        </p:txBody>
      </p:sp>
      <p:sp>
        <p:nvSpPr>
          <p:cNvPr id="5" name="タイトル 4">
            <a:extLst>
              <a:ext uri="{FF2B5EF4-FFF2-40B4-BE49-F238E27FC236}">
                <a16:creationId xmlns:a16="http://schemas.microsoft.com/office/drawing/2014/main" id="{B2230B3F-0D88-D22A-A305-4AA029BC6D40}"/>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88FE546B-CA77-F55F-A3A2-B044B2EA52B7}"/>
              </a:ext>
            </a:extLst>
          </p:cNvPr>
          <p:cNvSpPr>
            <a:spLocks noGrp="1"/>
          </p:cNvSpPr>
          <p:nvPr>
            <p:ph sz="quarter" idx="13"/>
          </p:nvPr>
        </p:nvSpPr>
        <p:spPr/>
        <p:txBody>
          <a:bodyPr/>
          <a:lstStyle/>
          <a:p>
            <a:r>
              <a:rPr lang="ja-JP" altLang="en-US"/>
              <a:t>・定常の定義</a:t>
            </a:r>
            <a:endParaRPr lang="en-US" altLang="ja-JP"/>
          </a:p>
          <a:p>
            <a:endParaRPr lang="en-US" altLang="ja-JP"/>
          </a:p>
          <a:p>
            <a:endParaRPr lang="en-US" altLang="ja-JP"/>
          </a:p>
          <a:p>
            <a:endParaRPr lang="en-US" altLang="ja-JP"/>
          </a:p>
          <a:p>
            <a:endParaRPr lang="en-US" altLang="ja-JP"/>
          </a:p>
          <a:p>
            <a:endParaRPr lang="en-US" altLang="ja-JP"/>
          </a:p>
          <a:p>
            <a:endParaRPr lang="en-US" altLang="ja-JP"/>
          </a:p>
          <a:p>
            <a:r>
              <a:rPr lang="ja-JP" altLang="en-US"/>
              <a:t>　この定義は弱定常と呼ばれるものであるが、一般的に弱定常のことを定常と呼ぶのが普通</a:t>
            </a:r>
            <a:endParaRPr lang="en-US" altLang="ja-JP"/>
          </a:p>
          <a:p>
            <a:r>
              <a:rPr lang="ja-JP" altLang="en-US"/>
              <a:t>　</a:t>
            </a:r>
            <a:endParaRPr lang="en-US" altLang="ja-JP"/>
          </a:p>
          <a:p>
            <a:r>
              <a:rPr lang="ja-JP" altLang="en-US"/>
              <a:t>　　　</a:t>
            </a:r>
            <a:endParaRPr lang="en-US" altLang="ja-JP"/>
          </a:p>
        </p:txBody>
      </p:sp>
      <p:pic>
        <p:nvPicPr>
          <p:cNvPr id="3" name="図 2">
            <a:extLst>
              <a:ext uri="{FF2B5EF4-FFF2-40B4-BE49-F238E27FC236}">
                <a16:creationId xmlns:a16="http://schemas.microsoft.com/office/drawing/2014/main" id="{C63C6547-B6B1-EAE5-680D-6EF4DB24FF7E}"/>
              </a:ext>
            </a:extLst>
          </p:cNvPr>
          <p:cNvPicPr>
            <a:picLocks noChangeAspect="1"/>
          </p:cNvPicPr>
          <p:nvPr/>
        </p:nvPicPr>
        <p:blipFill>
          <a:blip r:embed="rId3"/>
          <a:stretch>
            <a:fillRect/>
          </a:stretch>
        </p:blipFill>
        <p:spPr>
          <a:xfrm>
            <a:off x="1099457" y="2203353"/>
            <a:ext cx="7772400" cy="1225647"/>
          </a:xfrm>
          <a:prstGeom prst="rect">
            <a:avLst/>
          </a:prstGeom>
        </p:spPr>
      </p:pic>
    </p:spTree>
    <p:extLst>
      <p:ext uri="{BB962C8B-B14F-4D97-AF65-F5344CB8AC3E}">
        <p14:creationId xmlns:p14="http://schemas.microsoft.com/office/powerpoint/2010/main" val="3562349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2919F28-8934-73C9-935E-291448C86AB6}"/>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01E44A41-3D54-0AA5-88E9-A63DA6724FD2}"/>
              </a:ext>
            </a:extLst>
          </p:cNvPr>
          <p:cNvSpPr>
            <a:spLocks noGrp="1"/>
          </p:cNvSpPr>
          <p:nvPr>
            <p:ph type="sldNum" sz="quarter" idx="12"/>
          </p:nvPr>
        </p:nvSpPr>
        <p:spPr/>
        <p:txBody>
          <a:bodyPr/>
          <a:lstStyle/>
          <a:p>
            <a:fld id="{3B09FD7E-EA79-4AC9-B47C-47EE1A48B026}" type="slidenum">
              <a:rPr kumimoji="1" lang="ja-JP" altLang="en-US" smtClean="0"/>
              <a:t>15</a:t>
            </a:fld>
            <a:endParaRPr kumimoji="1" lang="ja-JP" altLang="en-US" dirty="0"/>
          </a:p>
        </p:txBody>
      </p:sp>
      <p:sp>
        <p:nvSpPr>
          <p:cNvPr id="5" name="タイトル 4">
            <a:extLst>
              <a:ext uri="{FF2B5EF4-FFF2-40B4-BE49-F238E27FC236}">
                <a16:creationId xmlns:a16="http://schemas.microsoft.com/office/drawing/2014/main" id="{9D22C994-F9FA-C4F1-1DC2-AD0F5947EC04}"/>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86F0EF8A-613C-1A37-24F9-3F94F53EDD08}"/>
              </a:ext>
            </a:extLst>
          </p:cNvPr>
          <p:cNvSpPr>
            <a:spLocks noGrp="1"/>
          </p:cNvSpPr>
          <p:nvPr>
            <p:ph sz="quarter" idx="13"/>
          </p:nvPr>
        </p:nvSpPr>
        <p:spPr>
          <a:xfrm>
            <a:off x="584778" y="1371315"/>
            <a:ext cx="11022443" cy="4042307"/>
          </a:xfrm>
        </p:spPr>
        <p:txBody>
          <a:bodyPr>
            <a:normAutofit/>
          </a:bodyPr>
          <a:lstStyle/>
          <a:p>
            <a:r>
              <a:rPr kumimoji="1" lang="ja-JP" altLang="en-US"/>
              <a:t>・ホワイトノイズ</a:t>
            </a:r>
            <a:endParaRPr kumimoji="1" lang="en-US" altLang="ja-JP"/>
          </a:p>
          <a:p>
            <a:r>
              <a:rPr lang="ja-JP" altLang="en-US"/>
              <a:t>　→時系列過程にノイズ項と呼ばれる形で登場する。</a:t>
            </a:r>
            <a:endParaRPr lang="en-US" altLang="ja-JP"/>
          </a:p>
          <a:p>
            <a:r>
              <a:rPr kumimoji="1" lang="ja-JP" altLang="en-US"/>
              <a:t>　</a:t>
            </a:r>
            <a:endParaRPr lang="en-US" altLang="ja-JP"/>
          </a:p>
          <a:p>
            <a:r>
              <a:rPr kumimoji="1" lang="ja-JP" altLang="en-US"/>
              <a:t>　</a:t>
            </a:r>
            <a:r>
              <a:rPr kumimoji="1" lang="en-US" altLang="ja-JP"/>
              <a:t>(</a:t>
            </a:r>
            <a:r>
              <a:rPr kumimoji="1" lang="ja-JP" altLang="en-US"/>
              <a:t>定義</a:t>
            </a:r>
            <a:r>
              <a:rPr lang="en-US" altLang="ja-JP"/>
              <a:t>)</a:t>
            </a:r>
          </a:p>
          <a:p>
            <a:r>
              <a:rPr kumimoji="1" lang="en-US" altLang="ja-JP"/>
              <a:t>    </a:t>
            </a:r>
          </a:p>
          <a:p>
            <a:endParaRPr lang="en-US" altLang="ja-JP"/>
          </a:p>
          <a:p>
            <a:endParaRPr kumimoji="1" lang="en-US" altLang="ja-JP"/>
          </a:p>
          <a:p>
            <a:endParaRPr lang="en-US" altLang="ja-JP"/>
          </a:p>
          <a:p>
            <a:r>
              <a:rPr kumimoji="1" lang="ja-JP" altLang="en-US"/>
              <a:t>　</a:t>
            </a:r>
            <a:endParaRPr lang="en-US" altLang="ja-JP"/>
          </a:p>
          <a:p>
            <a:r>
              <a:rPr kumimoji="1" lang="en-US" altLang="ja-JP"/>
              <a:t>    </a:t>
            </a:r>
            <a:r>
              <a:rPr kumimoji="1" lang="ja-JP" altLang="en-US"/>
              <a:t>ホワイトノイズは以下のように表記する</a:t>
            </a:r>
            <a:r>
              <a:rPr kumimoji="1" lang="en-US" altLang="ja-JP"/>
              <a:t> </a:t>
            </a:r>
          </a:p>
        </p:txBody>
      </p:sp>
      <p:pic>
        <p:nvPicPr>
          <p:cNvPr id="17" name="図 16">
            <a:extLst>
              <a:ext uri="{FF2B5EF4-FFF2-40B4-BE49-F238E27FC236}">
                <a16:creationId xmlns:a16="http://schemas.microsoft.com/office/drawing/2014/main" id="{F143311E-7C64-F13C-D6BD-7A7811CEE0F9}"/>
              </a:ext>
            </a:extLst>
          </p:cNvPr>
          <p:cNvPicPr>
            <a:picLocks noChangeAspect="1"/>
          </p:cNvPicPr>
          <p:nvPr/>
        </p:nvPicPr>
        <p:blipFill>
          <a:blip r:embed="rId3"/>
          <a:stretch>
            <a:fillRect/>
          </a:stretch>
        </p:blipFill>
        <p:spPr>
          <a:xfrm>
            <a:off x="1661582" y="4991677"/>
            <a:ext cx="3129008" cy="495008"/>
          </a:xfrm>
          <a:prstGeom prst="rect">
            <a:avLst/>
          </a:prstGeom>
        </p:spPr>
      </p:pic>
      <p:pic>
        <p:nvPicPr>
          <p:cNvPr id="18" name="図 17">
            <a:extLst>
              <a:ext uri="{FF2B5EF4-FFF2-40B4-BE49-F238E27FC236}">
                <a16:creationId xmlns:a16="http://schemas.microsoft.com/office/drawing/2014/main" id="{0F769C26-8B05-B10A-EAD0-2025764E75AE}"/>
              </a:ext>
            </a:extLst>
          </p:cNvPr>
          <p:cNvPicPr>
            <a:picLocks noChangeAspect="1"/>
          </p:cNvPicPr>
          <p:nvPr/>
        </p:nvPicPr>
        <p:blipFill>
          <a:blip r:embed="rId4"/>
          <a:stretch>
            <a:fillRect/>
          </a:stretch>
        </p:blipFill>
        <p:spPr>
          <a:xfrm>
            <a:off x="1661582" y="2874426"/>
            <a:ext cx="6584951" cy="1413907"/>
          </a:xfrm>
          <a:prstGeom prst="rect">
            <a:avLst/>
          </a:prstGeom>
        </p:spPr>
      </p:pic>
    </p:spTree>
    <p:extLst>
      <p:ext uri="{BB962C8B-B14F-4D97-AF65-F5344CB8AC3E}">
        <p14:creationId xmlns:p14="http://schemas.microsoft.com/office/powerpoint/2010/main" val="2886523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C1FAD9D-904A-0FFA-C749-B39B4A807ED4}"/>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D231B634-5079-6814-3A8D-43D33897A095}"/>
              </a:ext>
            </a:extLst>
          </p:cNvPr>
          <p:cNvSpPr>
            <a:spLocks noGrp="1"/>
          </p:cNvSpPr>
          <p:nvPr>
            <p:ph type="sldNum" sz="quarter" idx="12"/>
          </p:nvPr>
        </p:nvSpPr>
        <p:spPr/>
        <p:txBody>
          <a:bodyPr/>
          <a:lstStyle/>
          <a:p>
            <a:fld id="{3B09FD7E-EA79-4AC9-B47C-47EE1A48B026}" type="slidenum">
              <a:rPr kumimoji="1" lang="ja-JP" altLang="en-US" smtClean="0"/>
              <a:t>16</a:t>
            </a:fld>
            <a:endParaRPr kumimoji="1" lang="ja-JP" altLang="en-US" dirty="0"/>
          </a:p>
        </p:txBody>
      </p:sp>
      <p:sp>
        <p:nvSpPr>
          <p:cNvPr id="5" name="タイトル 4">
            <a:extLst>
              <a:ext uri="{FF2B5EF4-FFF2-40B4-BE49-F238E27FC236}">
                <a16:creationId xmlns:a16="http://schemas.microsoft.com/office/drawing/2014/main" id="{8C6C7E40-7255-1BD8-CD7A-0992611F3125}"/>
              </a:ext>
            </a:extLst>
          </p:cNvPr>
          <p:cNvSpPr>
            <a:spLocks noGrp="1"/>
          </p:cNvSpPr>
          <p:nvPr>
            <p:ph type="title"/>
          </p:nvPr>
        </p:nvSpPr>
        <p:spPr/>
        <p:txBody>
          <a:bodyPr/>
          <a:lstStyle/>
          <a:p>
            <a:endParaRPr kumimoji="1" lang="ja-JP" altLang="en-US"/>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70F1CDC4-3DCE-75A3-2A74-86DFC2D8961B}"/>
                  </a:ext>
                </a:extLst>
              </p:cNvPr>
              <p:cNvSpPr>
                <a:spLocks noGrp="1"/>
              </p:cNvSpPr>
              <p:nvPr>
                <p:ph sz="quarter" idx="13"/>
              </p:nvPr>
            </p:nvSpPr>
            <p:spPr>
              <a:xfrm>
                <a:off x="584778" y="1579853"/>
                <a:ext cx="11022443" cy="1908414"/>
              </a:xfrm>
            </p:spPr>
            <p:txBody>
              <a:bodyPr/>
              <a:lstStyle/>
              <a:p>
                <a:r>
                  <a:rPr lang="ja-JP" altLang="en-US"/>
                  <a:t>・自己回帰過程　</a:t>
                </a:r>
                <a:r>
                  <a:rPr lang="en-US" altLang="ja-JP"/>
                  <a:t>(AR)</a:t>
                </a:r>
              </a:p>
              <a:p>
                <a:endParaRPr lang="en-US" altLang="ja-JP"/>
              </a:p>
              <a:p>
                <a:endParaRPr lang="en-US" altLang="ja-JP"/>
              </a:p>
              <a:p>
                <a:r>
                  <a:rPr lang="en-US" altLang="ja-JP"/>
                  <a:t>    c</a:t>
                </a:r>
                <a:r>
                  <a:rPr lang="ja-JP" altLang="en-US"/>
                  <a:t>は定数を表し、</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m:t>
                        </m:r>
                      </m:e>
                      <m:sub>
                        <m:r>
                          <m:rPr>
                            <m:sty m:val="p"/>
                          </m:rPr>
                          <a:rPr lang="en-US" altLang="ja-JP" b="0" i="1">
                            <a:latin typeface="Cambria Math" panose="02040503050406030204" pitchFamily="18" charset="0"/>
                          </a:rPr>
                          <m:t>s</m:t>
                        </m:r>
                      </m:sub>
                    </m:sSub>
                  </m:oMath>
                </a14:m>
                <a:r>
                  <a:rPr lang="en-US" altLang="ja-JP"/>
                  <a:t>(s = 1,2,</a:t>
                </a:r>
                <a14:m>
                  <m:oMath xmlns:m="http://schemas.openxmlformats.org/officeDocument/2006/math">
                    <m:r>
                      <a:rPr lang="en-US" altLang="ja-JP" i="1">
                        <a:latin typeface="Cambria Math" panose="02040503050406030204" pitchFamily="18" charset="0"/>
                        <a:ea typeface="Cambria Math" panose="02040503050406030204" pitchFamily="18" charset="0"/>
                      </a:rPr>
                      <m:t>⋯</m:t>
                    </m:r>
                  </m:oMath>
                </a14:m>
                <a:r>
                  <a:rPr lang="en-US" altLang="ja-JP">
                    <a:ea typeface="Cambria Math" panose="02040503050406030204" pitchFamily="18" charset="0"/>
                  </a:rPr>
                  <a:t>,p)</a:t>
                </a:r>
                <a:r>
                  <a:rPr lang="ja-JP" altLang="en-US"/>
                  <a:t>はラグ付き変数の係数を表す。</a:t>
                </a:r>
                <a:endParaRPr lang="en-US" altLang="ja-JP"/>
              </a:p>
              <a:p>
                <a:r>
                  <a:rPr lang="ja-JP" altLang="en-US"/>
                  <a:t>　この過程を次数</a:t>
                </a:r>
                <a:r>
                  <a:rPr lang="en-US" altLang="ja-JP"/>
                  <a:t>p</a:t>
                </a:r>
                <a:r>
                  <a:rPr lang="ja-JP" altLang="en-US"/>
                  <a:t>の自己回帰過程と呼び、</a:t>
                </a:r>
                <a:r>
                  <a:rPr lang="en-US" altLang="ja-JP"/>
                  <a:t>AR(p)</a:t>
                </a:r>
                <a:r>
                  <a:rPr lang="ja-JP" altLang="en-US"/>
                  <a:t>と表記する。</a:t>
                </a:r>
                <a:endParaRPr lang="en-US" altLang="ja-JP"/>
              </a:p>
              <a:p>
                <a:r>
                  <a:rPr kumimoji="1" lang="en-US" altLang="ja-JP"/>
                  <a:t>    </a:t>
                </a:r>
              </a:p>
              <a:p>
                <a:r>
                  <a:rPr kumimoji="1" lang="ja-JP" altLang="en-US"/>
                  <a:t>・移動平均過程　</a:t>
                </a:r>
                <a:r>
                  <a:rPr kumimoji="1" lang="en-US" altLang="ja-JP"/>
                  <a:t>(MA)</a:t>
                </a:r>
              </a:p>
              <a:p>
                <a:endParaRPr lang="en-US" altLang="ja-JP"/>
              </a:p>
              <a:p>
                <a:r>
                  <a:rPr kumimoji="1" lang="ja-JP" altLang="en-US"/>
                  <a:t>　</a:t>
                </a:r>
                <a:endParaRPr kumimoji="1" lang="en-US" altLang="ja-JP"/>
              </a:p>
              <a:p>
                <a:r>
                  <a:rPr lang="ja-JP" altLang="en-US"/>
                  <a:t>　</a:t>
                </a:r>
                <a:r>
                  <a:rPr kumimoji="1" lang="en-US" altLang="ja-JP"/>
                  <a:t>μ</a:t>
                </a:r>
                <a:r>
                  <a:rPr kumimoji="1" lang="ja-JP" altLang="en-US"/>
                  <a:t>は期待値</a:t>
                </a:r>
                <a:r>
                  <a:rPr kumimoji="1" lang="en-US" altLang="ja-JP"/>
                  <a:t>(</a:t>
                </a:r>
                <a:r>
                  <a:rPr kumimoji="1" lang="ja-JP" altLang="en-US"/>
                  <a:t>平均</a:t>
                </a:r>
                <a:r>
                  <a:rPr lang="en-US" altLang="ja-JP"/>
                  <a:t>)</a:t>
                </a:r>
                <a:r>
                  <a:rPr lang="ja-JP" altLang="en-US"/>
                  <a:t>を表し、</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𝜃</m:t>
                        </m:r>
                      </m:e>
                      <m:sub>
                        <m:r>
                          <m:rPr>
                            <m:sty m:val="p"/>
                          </m:rPr>
                          <a:rPr lang="en-US" altLang="ja-JP" b="0" i="1">
                            <a:latin typeface="Cambria Math" panose="02040503050406030204" pitchFamily="18" charset="0"/>
                          </a:rPr>
                          <m:t>s</m:t>
                        </m:r>
                      </m:sub>
                    </m:sSub>
                  </m:oMath>
                </a14:m>
                <a:r>
                  <a:rPr lang="en-US" altLang="ja-JP"/>
                  <a:t> (s = 1,2,</a:t>
                </a:r>
                <a14:m>
                  <m:oMath xmlns:m="http://schemas.openxmlformats.org/officeDocument/2006/math">
                    <m:r>
                      <a:rPr lang="en-US" altLang="ja-JP" i="1">
                        <a:latin typeface="Cambria Math" panose="02040503050406030204" pitchFamily="18" charset="0"/>
                        <a:ea typeface="Cambria Math" panose="02040503050406030204" pitchFamily="18" charset="0"/>
                      </a:rPr>
                      <m:t>⋯</m:t>
                    </m:r>
                  </m:oMath>
                </a14:m>
                <a:r>
                  <a:rPr lang="en-US" altLang="ja-JP">
                    <a:ea typeface="Cambria Math" panose="02040503050406030204" pitchFamily="18" charset="0"/>
                  </a:rPr>
                  <a:t>,q)</a:t>
                </a:r>
                <a:r>
                  <a:rPr lang="ja-JP" altLang="en-US"/>
                  <a:t>はラグ付きホワイトノイズ項の係数である。</a:t>
                </a:r>
                <a:endParaRPr lang="en-US" altLang="ja-JP"/>
              </a:p>
              <a:p>
                <a:r>
                  <a:rPr lang="ja-JP" altLang="en-US"/>
                  <a:t>　この過程を次数</a:t>
                </a:r>
                <a:r>
                  <a:rPr lang="en-US" altLang="ja-JP"/>
                  <a:t>q</a:t>
                </a:r>
                <a:r>
                  <a:rPr lang="ja-JP" altLang="en-US"/>
                  <a:t>の移動平均過程と呼び、</a:t>
                </a:r>
                <a:r>
                  <a:rPr lang="en-US" altLang="ja-JP"/>
                  <a:t>MA(q)</a:t>
                </a:r>
                <a:r>
                  <a:rPr lang="ja-JP" altLang="en-US"/>
                  <a:t>と表記する。</a:t>
                </a:r>
                <a:endParaRPr kumimoji="1" lang="en-US" altLang="ja-JP"/>
              </a:p>
            </p:txBody>
          </p:sp>
        </mc:Choice>
        <mc:Fallback xmlns="">
          <p:sp>
            <p:nvSpPr>
              <p:cNvPr id="6" name="コンテンツ プレースホルダー 5">
                <a:extLst>
                  <a:ext uri="{FF2B5EF4-FFF2-40B4-BE49-F238E27FC236}">
                    <a16:creationId xmlns:a16="http://schemas.microsoft.com/office/drawing/2014/main" id="{70F1CDC4-3DCE-75A3-2A74-86DFC2D8961B}"/>
                  </a:ext>
                </a:extLst>
              </p:cNvPr>
              <p:cNvSpPr>
                <a:spLocks noGrp="1" noRot="1" noChangeAspect="1" noMove="1" noResize="1" noEditPoints="1" noAdjustHandles="1" noChangeArrowheads="1" noChangeShapeType="1" noTextEdit="1"/>
              </p:cNvSpPr>
              <p:nvPr>
                <p:ph sz="quarter" idx="13"/>
              </p:nvPr>
            </p:nvSpPr>
            <p:spPr>
              <a:xfrm>
                <a:off x="584778" y="1579853"/>
                <a:ext cx="11022443" cy="1908414"/>
              </a:xfrm>
              <a:blipFill>
                <a:blip r:embed="rId2"/>
                <a:stretch>
                  <a:fillRect l="-1152" t="-3311" b="-107285"/>
                </a:stretch>
              </a:blipFill>
            </p:spPr>
            <p:txBody>
              <a:bodyPr/>
              <a:lstStyle/>
              <a:p>
                <a:r>
                  <a:rPr lang="ja-JP" altLang="en-US">
                    <a:noFill/>
                  </a:rPr>
                  <a:t> </a:t>
                </a:r>
              </a:p>
            </p:txBody>
          </p:sp>
        </mc:Fallback>
      </mc:AlternateContent>
      <p:pic>
        <p:nvPicPr>
          <p:cNvPr id="10" name="図 9">
            <a:extLst>
              <a:ext uri="{FF2B5EF4-FFF2-40B4-BE49-F238E27FC236}">
                <a16:creationId xmlns:a16="http://schemas.microsoft.com/office/drawing/2014/main" id="{800BA516-3969-68C6-9E21-D8FF6F6B0E8D}"/>
              </a:ext>
            </a:extLst>
          </p:cNvPr>
          <p:cNvPicPr>
            <a:picLocks noChangeAspect="1"/>
          </p:cNvPicPr>
          <p:nvPr/>
        </p:nvPicPr>
        <p:blipFill>
          <a:blip r:embed="rId3"/>
          <a:stretch>
            <a:fillRect/>
          </a:stretch>
        </p:blipFill>
        <p:spPr>
          <a:xfrm>
            <a:off x="979715" y="4151628"/>
            <a:ext cx="7772400" cy="329884"/>
          </a:xfrm>
          <a:prstGeom prst="rect">
            <a:avLst/>
          </a:prstGeom>
        </p:spPr>
      </p:pic>
      <p:pic>
        <p:nvPicPr>
          <p:cNvPr id="11" name="図 10">
            <a:extLst>
              <a:ext uri="{FF2B5EF4-FFF2-40B4-BE49-F238E27FC236}">
                <a16:creationId xmlns:a16="http://schemas.microsoft.com/office/drawing/2014/main" id="{A230896C-65F5-0AD1-83E4-5F291D96A677}"/>
              </a:ext>
            </a:extLst>
          </p:cNvPr>
          <p:cNvPicPr>
            <a:picLocks noChangeAspect="1"/>
          </p:cNvPicPr>
          <p:nvPr/>
        </p:nvPicPr>
        <p:blipFill>
          <a:blip r:embed="rId4"/>
          <a:stretch>
            <a:fillRect/>
          </a:stretch>
        </p:blipFill>
        <p:spPr>
          <a:xfrm>
            <a:off x="979715" y="2094228"/>
            <a:ext cx="7726574" cy="327600"/>
          </a:xfrm>
          <a:prstGeom prst="rect">
            <a:avLst/>
          </a:prstGeom>
        </p:spPr>
      </p:pic>
    </p:spTree>
    <p:extLst>
      <p:ext uri="{BB962C8B-B14F-4D97-AF65-F5344CB8AC3E}">
        <p14:creationId xmlns:p14="http://schemas.microsoft.com/office/powerpoint/2010/main" val="367154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B991976-ADF3-EE79-DE0B-883D2301590B}"/>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5D8D8D96-8B9F-57BE-69B9-63773AE506B3}"/>
              </a:ext>
            </a:extLst>
          </p:cNvPr>
          <p:cNvSpPr>
            <a:spLocks noGrp="1"/>
          </p:cNvSpPr>
          <p:nvPr>
            <p:ph type="sldNum" sz="quarter" idx="12"/>
          </p:nvPr>
        </p:nvSpPr>
        <p:spPr/>
        <p:txBody>
          <a:bodyPr/>
          <a:lstStyle/>
          <a:p>
            <a:fld id="{3B09FD7E-EA79-4AC9-B47C-47EE1A48B026}" type="slidenum">
              <a:rPr kumimoji="1" lang="ja-JP" altLang="en-US" smtClean="0"/>
              <a:t>17</a:t>
            </a:fld>
            <a:endParaRPr kumimoji="1" lang="ja-JP" altLang="en-US" dirty="0"/>
          </a:p>
        </p:txBody>
      </p:sp>
      <p:sp>
        <p:nvSpPr>
          <p:cNvPr id="5" name="タイトル 4">
            <a:extLst>
              <a:ext uri="{FF2B5EF4-FFF2-40B4-BE49-F238E27FC236}">
                <a16:creationId xmlns:a16="http://schemas.microsoft.com/office/drawing/2014/main" id="{ED27D69C-1A01-D0C5-7B92-186797A8FB65}"/>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3F1EC4DA-0300-1607-C2B8-923152E0FE68}"/>
              </a:ext>
            </a:extLst>
          </p:cNvPr>
          <p:cNvSpPr>
            <a:spLocks noGrp="1"/>
          </p:cNvSpPr>
          <p:nvPr>
            <p:ph sz="quarter" idx="13"/>
          </p:nvPr>
        </p:nvSpPr>
        <p:spPr>
          <a:xfrm>
            <a:off x="584778" y="1579851"/>
            <a:ext cx="11022443" cy="2746616"/>
          </a:xfrm>
        </p:spPr>
        <p:txBody>
          <a:bodyPr/>
          <a:lstStyle/>
          <a:p>
            <a:r>
              <a:rPr lang="ja-JP" altLang="en-US"/>
              <a:t>・自己回帰移動平均過程　</a:t>
            </a:r>
            <a:r>
              <a:rPr lang="en-US" altLang="ja-JP"/>
              <a:t>(ARMA)</a:t>
            </a:r>
          </a:p>
          <a:p>
            <a:endParaRPr lang="en-US" altLang="ja-JP"/>
          </a:p>
          <a:p>
            <a:endParaRPr lang="en-US" altLang="ja-JP"/>
          </a:p>
          <a:p>
            <a:r>
              <a:rPr lang="en-US" altLang="ja-JP"/>
              <a:t>     </a:t>
            </a:r>
            <a:endParaRPr lang="ja-JP" altLang="en-US"/>
          </a:p>
          <a:p>
            <a:r>
              <a:rPr kumimoji="1" lang="ja-JP" altLang="en-US"/>
              <a:t>　これを次数</a:t>
            </a:r>
            <a:r>
              <a:rPr kumimoji="1" lang="en-US" altLang="ja-JP"/>
              <a:t>(p,q)</a:t>
            </a:r>
            <a:r>
              <a:rPr kumimoji="1" lang="ja-JP" altLang="en-US"/>
              <a:t>の自己回帰移動平均過程と呼び</a:t>
            </a:r>
            <a:r>
              <a:rPr lang="ja-JP" altLang="en-US"/>
              <a:t>、</a:t>
            </a:r>
            <a:r>
              <a:rPr lang="en-US" altLang="ja-JP"/>
              <a:t>ARMA(p,q)</a:t>
            </a:r>
            <a:r>
              <a:rPr lang="ja-JP" altLang="en-US"/>
              <a:t>と表記する。</a:t>
            </a:r>
            <a:endParaRPr lang="en-US" altLang="ja-JP"/>
          </a:p>
          <a:p>
            <a:r>
              <a:rPr kumimoji="1" lang="ja-JP" altLang="en-US"/>
              <a:t>　自己回帰移動平均過程は、自己回帰過程と移動平均過程との組み合わせで表現される。</a:t>
            </a:r>
          </a:p>
        </p:txBody>
      </p:sp>
      <p:pic>
        <p:nvPicPr>
          <p:cNvPr id="7" name="図 6">
            <a:extLst>
              <a:ext uri="{FF2B5EF4-FFF2-40B4-BE49-F238E27FC236}">
                <a16:creationId xmlns:a16="http://schemas.microsoft.com/office/drawing/2014/main" id="{631E35D3-B6D1-1080-1BC6-FA64CDA09B54}"/>
              </a:ext>
            </a:extLst>
          </p:cNvPr>
          <p:cNvPicPr>
            <a:picLocks noChangeAspect="1"/>
          </p:cNvPicPr>
          <p:nvPr/>
        </p:nvPicPr>
        <p:blipFill>
          <a:blip r:embed="rId2"/>
          <a:stretch>
            <a:fillRect/>
          </a:stretch>
        </p:blipFill>
        <p:spPr>
          <a:xfrm>
            <a:off x="1185333" y="2138774"/>
            <a:ext cx="9304866" cy="327390"/>
          </a:xfrm>
          <a:prstGeom prst="rect">
            <a:avLst/>
          </a:prstGeom>
        </p:spPr>
      </p:pic>
    </p:spTree>
    <p:extLst>
      <p:ext uri="{BB962C8B-B14F-4D97-AF65-F5344CB8AC3E}">
        <p14:creationId xmlns:p14="http://schemas.microsoft.com/office/powerpoint/2010/main" val="1958048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C7B1512-1F91-318B-B5B8-5C213E616283}"/>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989D6C3A-A560-477D-53A3-53A49CCEF21B}"/>
              </a:ext>
            </a:extLst>
          </p:cNvPr>
          <p:cNvSpPr>
            <a:spLocks noGrp="1"/>
          </p:cNvSpPr>
          <p:nvPr>
            <p:ph type="sldNum" sz="quarter" idx="12"/>
          </p:nvPr>
        </p:nvSpPr>
        <p:spPr/>
        <p:txBody>
          <a:bodyPr/>
          <a:lstStyle/>
          <a:p>
            <a:fld id="{3B09FD7E-EA79-4AC9-B47C-47EE1A48B026}" type="slidenum">
              <a:rPr kumimoji="1" lang="ja-JP" altLang="en-US" smtClean="0"/>
              <a:t>18</a:t>
            </a:fld>
            <a:endParaRPr kumimoji="1" lang="ja-JP" altLang="en-US" dirty="0"/>
          </a:p>
        </p:txBody>
      </p:sp>
      <p:sp>
        <p:nvSpPr>
          <p:cNvPr id="5" name="タイトル 4">
            <a:extLst>
              <a:ext uri="{FF2B5EF4-FFF2-40B4-BE49-F238E27FC236}">
                <a16:creationId xmlns:a16="http://schemas.microsoft.com/office/drawing/2014/main" id="{CDC61465-3CDD-218B-9B11-FE4F18A7C18D}"/>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017A8896-1012-726D-FAD0-22992053FE18}"/>
              </a:ext>
            </a:extLst>
          </p:cNvPr>
          <p:cNvSpPr>
            <a:spLocks noGrp="1"/>
          </p:cNvSpPr>
          <p:nvPr>
            <p:ph sz="quarter" idx="13"/>
          </p:nvPr>
        </p:nvSpPr>
        <p:spPr/>
        <p:txBody>
          <a:bodyPr/>
          <a:lstStyle/>
          <a:p>
            <a:r>
              <a:rPr lang="ja-JP" altLang="en-US"/>
              <a:t>・</a:t>
            </a:r>
            <a:r>
              <a:rPr lang="en-US" altLang="ja-JP"/>
              <a:t>ADF</a:t>
            </a:r>
            <a:r>
              <a:rPr lang="ja-JP" altLang="en-US"/>
              <a:t>検定</a:t>
            </a:r>
            <a:r>
              <a:rPr lang="en-US" altLang="ja-JP"/>
              <a:t>(</a:t>
            </a:r>
            <a:r>
              <a:rPr lang="ja-JP" altLang="en-US"/>
              <a:t>拡張ディッキー＝フラー検定</a:t>
            </a:r>
            <a:r>
              <a:rPr lang="en-US" altLang="ja-JP"/>
              <a:t>)</a:t>
            </a:r>
          </a:p>
          <a:p>
            <a:r>
              <a:rPr kumimoji="1" lang="en-US" altLang="ja-JP"/>
              <a:t>    </a:t>
            </a:r>
            <a:r>
              <a:rPr kumimoji="1" lang="ja-JP" altLang="en-US"/>
              <a:t>→単位根検定の</a:t>
            </a:r>
            <a:r>
              <a:rPr kumimoji="1" lang="en-US" altLang="ja-JP"/>
              <a:t>1</a:t>
            </a:r>
            <a:r>
              <a:rPr lang="ja-JP" altLang="en-US"/>
              <a:t>種</a:t>
            </a:r>
            <a:r>
              <a:rPr lang="en-US" altLang="ja-JP"/>
              <a:t> AR(p)</a:t>
            </a:r>
            <a:r>
              <a:rPr lang="ja-JP" altLang="en-US"/>
              <a:t>を仮定する</a:t>
            </a:r>
            <a:endParaRPr lang="en-US" altLang="ja-JP"/>
          </a:p>
          <a:p>
            <a:r>
              <a:rPr kumimoji="1" lang="ja-JP" altLang="en-US"/>
              <a:t>　　ラグ次数</a:t>
            </a:r>
            <a:r>
              <a:rPr kumimoji="1" lang="en-US" altLang="ja-JP"/>
              <a:t>p</a:t>
            </a:r>
            <a:r>
              <a:rPr kumimoji="1" lang="ja-JP" altLang="en-US"/>
              <a:t>をあらかじめ決める必要があり、</a:t>
            </a:r>
            <a:r>
              <a:rPr kumimoji="1" lang="en-US" altLang="ja-JP"/>
              <a:t>AIC,AICc</a:t>
            </a:r>
            <a:r>
              <a:rPr kumimoji="1" lang="ja-JP" altLang="en-US"/>
              <a:t>などの情報量基準によって決定する。</a:t>
            </a:r>
            <a:endParaRPr kumimoji="1" lang="en-US" altLang="ja-JP"/>
          </a:p>
          <a:p>
            <a:r>
              <a:rPr lang="ja-JP" altLang="en-US"/>
              <a:t>　　</a:t>
            </a:r>
            <a:r>
              <a:rPr kumimoji="1" lang="ja-JP" altLang="en-US"/>
              <a:t>ただし、</a:t>
            </a:r>
            <a:r>
              <a:rPr kumimoji="1" lang="en-US" altLang="ja-JP"/>
              <a:t>R</a:t>
            </a:r>
            <a:r>
              <a:rPr kumimoji="1" lang="ja-JP" altLang="en-US"/>
              <a:t>では自動選択してくれる。</a:t>
            </a:r>
            <a:endParaRPr kumimoji="1" lang="en-US" altLang="ja-JP"/>
          </a:p>
          <a:p>
            <a:endParaRPr kumimoji="1" lang="en-US" altLang="ja-JP"/>
          </a:p>
          <a:p>
            <a:r>
              <a:rPr lang="ja-JP" altLang="en-US"/>
              <a:t>・単位根検定とは</a:t>
            </a:r>
            <a:endParaRPr lang="en-US" altLang="ja-JP"/>
          </a:p>
          <a:p>
            <a:r>
              <a:rPr kumimoji="1" lang="ja-JP" altLang="en-US"/>
              <a:t>　→単位根検定とは、検定対象の変数</a:t>
            </a:r>
            <a:r>
              <a:rPr lang="en-US" altLang="ja-JP"/>
              <a:t>(</a:t>
            </a:r>
            <a:r>
              <a:rPr lang="ja-JP" altLang="en-US"/>
              <a:t>時系列過程</a:t>
            </a:r>
            <a:r>
              <a:rPr lang="en-US" altLang="ja-JP"/>
              <a:t>)</a:t>
            </a:r>
            <a:r>
              <a:rPr lang="ja-JP" altLang="en-US"/>
              <a:t>が単位根を持っているか否かを検定する。</a:t>
            </a:r>
            <a:endParaRPr lang="en-US" altLang="ja-JP"/>
          </a:p>
          <a:p>
            <a:r>
              <a:rPr kumimoji="1" lang="ja-JP" altLang="en-US"/>
              <a:t>　　その目的は和分次数</a:t>
            </a:r>
            <a:r>
              <a:rPr kumimoji="1" lang="en-US" altLang="ja-JP"/>
              <a:t>d</a:t>
            </a:r>
            <a:r>
              <a:rPr kumimoji="1" lang="ja-JP" altLang="en-US"/>
              <a:t>を決定することである。何回階差をとれば定常になるかを探る。</a:t>
            </a:r>
            <a:endParaRPr kumimoji="1" lang="en-US" altLang="ja-JP"/>
          </a:p>
          <a:p>
            <a:endParaRPr lang="en-US" altLang="ja-JP"/>
          </a:p>
          <a:p>
            <a:endParaRPr kumimoji="1" lang="ja-JP" altLang="en-US"/>
          </a:p>
        </p:txBody>
      </p:sp>
    </p:spTree>
    <p:extLst>
      <p:ext uri="{BB962C8B-B14F-4D97-AF65-F5344CB8AC3E}">
        <p14:creationId xmlns:p14="http://schemas.microsoft.com/office/powerpoint/2010/main" val="4082743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D3D23A7-B3D6-1818-764A-D921A6BCF040}"/>
              </a:ext>
            </a:extLst>
          </p:cNvPr>
          <p:cNvSpPr>
            <a:spLocks noGrp="1"/>
          </p:cNvSpPr>
          <p:nvPr>
            <p:ph idx="1"/>
          </p:nvPr>
        </p:nvSpPr>
        <p:spPr/>
        <p:txBody>
          <a:bodyPr/>
          <a:lstStyle/>
          <a:p>
            <a:r>
              <a:rPr lang="ja-JP" altLang="en-US"/>
              <a:t>分析結果</a:t>
            </a:r>
            <a:endParaRPr kumimoji="1" lang="ja-JP" altLang="en-US"/>
          </a:p>
        </p:txBody>
      </p:sp>
      <p:sp>
        <p:nvSpPr>
          <p:cNvPr id="4" name="スライド番号プレースホルダー 3">
            <a:extLst>
              <a:ext uri="{FF2B5EF4-FFF2-40B4-BE49-F238E27FC236}">
                <a16:creationId xmlns:a16="http://schemas.microsoft.com/office/drawing/2014/main" id="{4BBBCB23-4BE4-7664-BCA5-3E74687DD3E2}"/>
              </a:ext>
            </a:extLst>
          </p:cNvPr>
          <p:cNvSpPr>
            <a:spLocks noGrp="1"/>
          </p:cNvSpPr>
          <p:nvPr>
            <p:ph type="sldNum" sz="quarter" idx="12"/>
          </p:nvPr>
        </p:nvSpPr>
        <p:spPr/>
        <p:txBody>
          <a:bodyPr/>
          <a:lstStyle/>
          <a:p>
            <a:fld id="{3B09FD7E-EA79-4AC9-B47C-47EE1A48B026}" type="slidenum">
              <a:rPr kumimoji="1" lang="ja-JP" altLang="en-US" smtClean="0"/>
              <a:t>19</a:t>
            </a:fld>
            <a:endParaRPr kumimoji="1" lang="ja-JP" altLang="en-US" dirty="0"/>
          </a:p>
        </p:txBody>
      </p:sp>
      <p:sp>
        <p:nvSpPr>
          <p:cNvPr id="5" name="タイトル 4">
            <a:extLst>
              <a:ext uri="{FF2B5EF4-FFF2-40B4-BE49-F238E27FC236}">
                <a16:creationId xmlns:a16="http://schemas.microsoft.com/office/drawing/2014/main" id="{0675C104-AB73-6A39-9DB4-80024B9B179B}"/>
              </a:ext>
            </a:extLst>
          </p:cNvPr>
          <p:cNvSpPr>
            <a:spLocks noGrp="1"/>
          </p:cNvSpPr>
          <p:nvPr>
            <p:ph type="title"/>
          </p:nvPr>
        </p:nvSpPr>
        <p:spPr/>
        <p:txBody>
          <a:bodyPr/>
          <a:lstStyle/>
          <a:p>
            <a:endParaRPr kumimoji="1" lang="ja-JP" altLang="en-US"/>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C13E9E61-444E-3F69-BC3B-335DA0670EB4}"/>
                  </a:ext>
                </a:extLst>
              </p:cNvPr>
              <p:cNvSpPr>
                <a:spLocks noGrp="1"/>
              </p:cNvSpPr>
              <p:nvPr>
                <p:ph sz="quarter" idx="13"/>
              </p:nvPr>
            </p:nvSpPr>
            <p:spPr>
              <a:xfrm>
                <a:off x="584778" y="1579852"/>
                <a:ext cx="11022443" cy="802232"/>
              </a:xfrm>
            </p:spPr>
            <p:txBody>
              <a:bodyPr/>
              <a:lstStyle/>
              <a:p>
                <a:r>
                  <a:rPr kumimoji="1" lang="ja-JP" altLang="en-US"/>
                  <a:t>・単位根とは</a:t>
                </a:r>
                <a:endParaRPr kumimoji="1" lang="en-US" altLang="ja-JP"/>
              </a:p>
              <a:p>
                <a:r>
                  <a:rPr lang="ja-JP" altLang="en-US"/>
                  <a:t>　→以下のような</a:t>
                </a:r>
                <a:r>
                  <a:rPr lang="en-US" altLang="ja-JP"/>
                  <a:t>AR(1)</a:t>
                </a:r>
                <a:r>
                  <a:rPr lang="ja-JP" altLang="en-US"/>
                  <a:t>過程を考える</a:t>
                </a:r>
                <a:endParaRPr lang="en-US" altLang="ja-JP"/>
              </a:p>
              <a:p>
                <a:endParaRPr kumimoji="1" lang="en-US" altLang="ja-JP"/>
              </a:p>
              <a:p>
                <a:endParaRPr lang="en-US" altLang="ja-JP"/>
              </a:p>
              <a:p>
                <a:r>
                  <a:rPr kumimoji="1" lang="ja-JP" altLang="en-US"/>
                  <a:t>　</a:t>
                </a:r>
                <a:endParaRPr kumimoji="1" lang="en-US" altLang="ja-JP"/>
              </a:p>
              <a:p>
                <a:r>
                  <a:rPr lang="ja-JP" altLang="en-US"/>
                  <a:t>　</a:t>
                </a:r>
                <a:r>
                  <a:rPr kumimoji="1" lang="ja-JP" altLang="en-US"/>
                  <a:t>このとき、</a:t>
                </a:r>
                <a:r>
                  <a:rPr kumimoji="1" lang="en-US" altLang="ja-JP"/>
                  <a:t>❘</a:t>
                </a:r>
                <a14:m>
                  <m:oMath xmlns:m="http://schemas.openxmlformats.org/officeDocument/2006/math">
                    <m:r>
                      <a:rPr kumimoji="1" lang="en-US" altLang="ja-JP" i="1">
                        <a:latin typeface="Cambria Math" panose="02040503050406030204" pitchFamily="18" charset="0"/>
                        <a:ea typeface="Cambria Math" panose="02040503050406030204" pitchFamily="18" charset="0"/>
                      </a:rPr>
                      <m:t>𝜌</m:t>
                    </m:r>
                  </m:oMath>
                </a14:m>
                <a:r>
                  <a:rPr lang="en-US" altLang="ja-JP"/>
                  <a:t>❘ = 1</a:t>
                </a:r>
                <a:r>
                  <a:rPr lang="ja-JP" altLang="en-US"/>
                  <a:t>のとき単位根をもつと言う。単位根をもつとき、変数</a:t>
                </a:r>
                <a14:m>
                  <m:oMath xmlns:m="http://schemas.openxmlformats.org/officeDocument/2006/math">
                    <m:sSub>
                      <m:sSubPr>
                        <m:ctrlPr>
                          <a:rPr lang="en-US" altLang="ja-JP" i="1">
                            <a:latin typeface="Cambria Math" panose="02040503050406030204" pitchFamily="18" charset="0"/>
                          </a:rPr>
                        </m:ctrlPr>
                      </m:sSubPr>
                      <m:e>
                        <m:r>
                          <m:rPr>
                            <m:sty m:val="p"/>
                          </m:rPr>
                          <a:rPr lang="en-US" altLang="ja-JP" b="0" i="1">
                            <a:latin typeface="Cambria Math" panose="02040503050406030204" pitchFamily="18" charset="0"/>
                          </a:rPr>
                          <m:t>u</m:t>
                        </m:r>
                      </m:e>
                      <m:sub>
                        <m:r>
                          <m:rPr>
                            <m:sty m:val="p"/>
                          </m:rPr>
                          <a:rPr lang="en-US" altLang="ja-JP" b="0" i="1">
                            <a:latin typeface="Cambria Math" panose="02040503050406030204" pitchFamily="18" charset="0"/>
                          </a:rPr>
                          <m:t>t</m:t>
                        </m:r>
                      </m:sub>
                    </m:sSub>
                  </m:oMath>
                </a14:m>
                <a:r>
                  <a:rPr lang="ja-JP" altLang="en-US"/>
                  <a:t>に生じた影響が時間の経過に伴って</a:t>
                </a:r>
                <a:endParaRPr lang="en-US" altLang="ja-JP"/>
              </a:p>
              <a:p>
                <a:r>
                  <a:rPr lang="ja-JP" altLang="en-US"/>
                  <a:t>　衰退することなく一定で永遠に続く。分散が時間とともに増えていくため非定常過程となる。</a:t>
                </a:r>
                <a:endParaRPr lang="en-US" altLang="ja-JP"/>
              </a:p>
              <a:p>
                <a:r>
                  <a:rPr lang="ja-JP" altLang="en-US"/>
                  <a:t>　また、</a:t>
                </a:r>
                <a:r>
                  <a:rPr lang="en-US" altLang="ja-JP"/>
                  <a:t> ❘</a:t>
                </a:r>
                <a14:m>
                  <m:oMath xmlns:m="http://schemas.openxmlformats.org/officeDocument/2006/math">
                    <m:r>
                      <a:rPr lang="en-US" altLang="ja-JP" i="1">
                        <a:latin typeface="Cambria Math" panose="02040503050406030204" pitchFamily="18" charset="0"/>
                        <a:ea typeface="Cambria Math" panose="02040503050406030204" pitchFamily="18" charset="0"/>
                      </a:rPr>
                      <m:t>𝜌</m:t>
                    </m:r>
                  </m:oMath>
                </a14:m>
                <a:r>
                  <a:rPr lang="en-US" altLang="ja-JP"/>
                  <a:t>❘ &lt;1</a:t>
                </a:r>
                <a:r>
                  <a:rPr lang="ja-JP" altLang="en-US"/>
                  <a:t>の場合、変数</a:t>
                </a:r>
                <a14:m>
                  <m:oMath xmlns:m="http://schemas.openxmlformats.org/officeDocument/2006/math">
                    <m:sSub>
                      <m:sSubPr>
                        <m:ctrlPr>
                          <a:rPr lang="en-US" altLang="ja-JP" i="1">
                            <a:latin typeface="Cambria Math" panose="02040503050406030204" pitchFamily="18" charset="0"/>
                          </a:rPr>
                        </m:ctrlPr>
                      </m:sSubPr>
                      <m:e>
                        <m:r>
                          <m:rPr>
                            <m:sty m:val="p"/>
                          </m:rPr>
                          <a:rPr lang="en-US" altLang="ja-JP" i="1">
                            <a:latin typeface="Cambria Math" panose="02040503050406030204" pitchFamily="18" charset="0"/>
                          </a:rPr>
                          <m:t>u</m:t>
                        </m:r>
                      </m:e>
                      <m:sub>
                        <m:r>
                          <m:rPr>
                            <m:sty m:val="p"/>
                          </m:rPr>
                          <a:rPr lang="en-US" altLang="ja-JP" i="1">
                            <a:latin typeface="Cambria Math" panose="02040503050406030204" pitchFamily="18" charset="0"/>
                          </a:rPr>
                          <m:t>t</m:t>
                        </m:r>
                      </m:sub>
                    </m:sSub>
                  </m:oMath>
                </a14:m>
                <a:r>
                  <a:rPr lang="ja-JP" altLang="en-US"/>
                  <a:t>に生じる影響は時間の経過とともに衰退していく。これは定常過程となる。</a:t>
                </a:r>
                <a:endParaRPr lang="en-US" altLang="ja-JP"/>
              </a:p>
              <a:p>
                <a:endParaRPr lang="en-US" altLang="ja-JP"/>
              </a:p>
              <a:p>
                <a:r>
                  <a:rPr lang="ja-JP" altLang="en-US"/>
                  <a:t>　</a:t>
                </a:r>
                <a:r>
                  <a:rPr lang="en-US" altLang="ja-JP"/>
                  <a:t>ADF</a:t>
                </a:r>
                <a:r>
                  <a:rPr lang="ja-JP" altLang="en-US"/>
                  <a:t>検定は帰無仮説を単位根あり、対立仮説を単位根なしとして定常性の有無を判断する仮説検定である。</a:t>
                </a:r>
                <a:endParaRPr lang="en-US" altLang="ja-JP"/>
              </a:p>
              <a:p>
                <a:endParaRPr kumimoji="1" lang="ja-JP" altLang="en-US"/>
              </a:p>
            </p:txBody>
          </p:sp>
        </mc:Choice>
        <mc:Fallback xmlns="">
          <p:sp>
            <p:nvSpPr>
              <p:cNvPr id="6" name="コンテンツ プレースホルダー 5">
                <a:extLst>
                  <a:ext uri="{FF2B5EF4-FFF2-40B4-BE49-F238E27FC236}">
                    <a16:creationId xmlns:a16="http://schemas.microsoft.com/office/drawing/2014/main" id="{C13E9E61-444E-3F69-BC3B-335DA0670EB4}"/>
                  </a:ext>
                </a:extLst>
              </p:cNvPr>
              <p:cNvSpPr>
                <a:spLocks noGrp="1" noRot="1" noChangeAspect="1" noMove="1" noResize="1" noEditPoints="1" noAdjustHandles="1" noChangeArrowheads="1" noChangeShapeType="1" noTextEdit="1"/>
              </p:cNvSpPr>
              <p:nvPr>
                <p:ph sz="quarter" idx="13"/>
              </p:nvPr>
            </p:nvSpPr>
            <p:spPr>
              <a:xfrm>
                <a:off x="584778" y="1579852"/>
                <a:ext cx="11022443" cy="802232"/>
              </a:xfrm>
              <a:blipFill>
                <a:blip r:embed="rId2"/>
                <a:stretch>
                  <a:fillRect l="-1152" t="-7813" b="-345313"/>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2EB69A2E-E353-ECD9-1B20-0FE9533D6A09}"/>
              </a:ext>
            </a:extLst>
          </p:cNvPr>
          <p:cNvPicPr>
            <a:picLocks noChangeAspect="1"/>
          </p:cNvPicPr>
          <p:nvPr/>
        </p:nvPicPr>
        <p:blipFill>
          <a:blip r:embed="rId3"/>
          <a:stretch>
            <a:fillRect/>
          </a:stretch>
        </p:blipFill>
        <p:spPr>
          <a:xfrm>
            <a:off x="3560234" y="2590336"/>
            <a:ext cx="3022600" cy="381000"/>
          </a:xfrm>
          <a:prstGeom prst="rect">
            <a:avLst/>
          </a:prstGeom>
        </p:spPr>
      </p:pic>
    </p:spTree>
    <p:extLst>
      <p:ext uri="{BB962C8B-B14F-4D97-AF65-F5344CB8AC3E}">
        <p14:creationId xmlns:p14="http://schemas.microsoft.com/office/powerpoint/2010/main" val="3484645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519968F-149F-6006-DE9F-9C690ED89974}"/>
              </a:ext>
            </a:extLst>
          </p:cNvPr>
          <p:cNvSpPr>
            <a:spLocks noGrp="1"/>
          </p:cNvSpPr>
          <p:nvPr>
            <p:ph idx="1"/>
          </p:nvPr>
        </p:nvSpPr>
        <p:spPr/>
        <p:txBody>
          <a:bodyPr/>
          <a:lstStyle/>
          <a:p>
            <a:r>
              <a:rPr lang="ja-JP" altLang="en-US"/>
              <a:t>分析結果</a:t>
            </a:r>
            <a:endParaRPr kumimoji="1" lang="ja-JP" altLang="en-US"/>
          </a:p>
        </p:txBody>
      </p:sp>
      <p:sp>
        <p:nvSpPr>
          <p:cNvPr id="4" name="スライド番号プレースホルダー 3">
            <a:extLst>
              <a:ext uri="{FF2B5EF4-FFF2-40B4-BE49-F238E27FC236}">
                <a16:creationId xmlns:a16="http://schemas.microsoft.com/office/drawing/2014/main" id="{EF316C2F-0CF9-DD4C-1C6D-AD314A869EE9}"/>
              </a:ext>
            </a:extLst>
          </p:cNvPr>
          <p:cNvSpPr>
            <a:spLocks noGrp="1"/>
          </p:cNvSpPr>
          <p:nvPr>
            <p:ph type="sldNum" sz="quarter" idx="12"/>
          </p:nvPr>
        </p:nvSpPr>
        <p:spPr/>
        <p:txBody>
          <a:bodyPr/>
          <a:lstStyle/>
          <a:p>
            <a:fld id="{3B09FD7E-EA79-4AC9-B47C-47EE1A48B026}" type="slidenum">
              <a:rPr kumimoji="1" lang="ja-JP" altLang="en-US" smtClean="0"/>
              <a:t>20</a:t>
            </a:fld>
            <a:endParaRPr kumimoji="1" lang="ja-JP" altLang="en-US" dirty="0"/>
          </a:p>
        </p:txBody>
      </p:sp>
      <p:sp>
        <p:nvSpPr>
          <p:cNvPr id="5" name="タイトル 4">
            <a:extLst>
              <a:ext uri="{FF2B5EF4-FFF2-40B4-BE49-F238E27FC236}">
                <a16:creationId xmlns:a16="http://schemas.microsoft.com/office/drawing/2014/main" id="{AC75F389-C7DA-7576-D5AF-2976714EDA9E}"/>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52560A47-4908-F431-B377-671B8A7A8A73}"/>
              </a:ext>
            </a:extLst>
          </p:cNvPr>
          <p:cNvSpPr>
            <a:spLocks noGrp="1"/>
          </p:cNvSpPr>
          <p:nvPr>
            <p:ph sz="quarter" idx="13"/>
          </p:nvPr>
        </p:nvSpPr>
        <p:spPr/>
        <p:txBody>
          <a:bodyPr/>
          <a:lstStyle/>
          <a:p>
            <a:r>
              <a:rPr kumimoji="1" lang="ja-JP" altLang="en-US"/>
              <a:t>・</a:t>
            </a:r>
            <a:r>
              <a:rPr kumimoji="1" lang="en-US" altLang="ja-JP"/>
              <a:t>ADF</a:t>
            </a:r>
            <a:r>
              <a:rPr kumimoji="1" lang="ja-JP" altLang="en-US"/>
              <a:t>検定のモデル</a:t>
            </a:r>
            <a:endParaRPr kumimoji="1" lang="en-US" altLang="ja-JP"/>
          </a:p>
          <a:p>
            <a:r>
              <a:rPr lang="ja-JP" altLang="en-US"/>
              <a:t>　→</a:t>
            </a:r>
            <a:r>
              <a:rPr lang="en-US" altLang="ja-JP"/>
              <a:t>ADF</a:t>
            </a:r>
            <a:r>
              <a:rPr lang="ja-JP" altLang="en-US"/>
              <a:t>検定には</a:t>
            </a:r>
            <a:r>
              <a:rPr lang="en-US" altLang="ja-JP"/>
              <a:t>trend,drift,none</a:t>
            </a:r>
            <a:r>
              <a:rPr lang="ja-JP" altLang="en-US"/>
              <a:t>モデルの</a:t>
            </a:r>
            <a:r>
              <a:rPr lang="en-US" altLang="ja-JP"/>
              <a:t>3</a:t>
            </a:r>
            <a:r>
              <a:rPr lang="ja-JP" altLang="en-US"/>
              <a:t>つがある。</a:t>
            </a:r>
            <a:r>
              <a:rPr lang="en-US" altLang="ja-JP"/>
              <a:t>3</a:t>
            </a:r>
            <a:r>
              <a:rPr lang="ja-JP" altLang="en-US"/>
              <a:t>つのモデルは適材適所であるが、どのモデルが適しているかは</a:t>
            </a:r>
            <a:endParaRPr lang="en-US" altLang="ja-JP"/>
          </a:p>
          <a:p>
            <a:r>
              <a:rPr kumimoji="1" lang="ja-JP" altLang="en-US"/>
              <a:t>　　定かではない。そこで</a:t>
            </a:r>
            <a:r>
              <a:rPr lang="en-US" altLang="ja-JP"/>
              <a:t>trend</a:t>
            </a:r>
            <a:r>
              <a:rPr lang="ja-JP" altLang="en-US"/>
              <a:t>→</a:t>
            </a:r>
            <a:r>
              <a:rPr lang="en-US" altLang="ja-JP"/>
              <a:t>drift</a:t>
            </a:r>
            <a:r>
              <a:rPr lang="ja-JP" altLang="en-US"/>
              <a:t>→</a:t>
            </a:r>
            <a:r>
              <a:rPr lang="en-US" altLang="ja-JP"/>
              <a:t>none</a:t>
            </a:r>
            <a:r>
              <a:rPr lang="ja-JP" altLang="en-US"/>
              <a:t>の順にモデルを使い、検定用の回帰モデルの回帰係数に対して、仮説検</a:t>
            </a:r>
            <a:endParaRPr lang="en-US" altLang="ja-JP"/>
          </a:p>
          <a:p>
            <a:r>
              <a:rPr lang="ja-JP" altLang="en-US"/>
              <a:t>　　定を行い適切なモデルを選ぶ。</a:t>
            </a:r>
            <a:endParaRPr lang="en-US" altLang="ja-JP"/>
          </a:p>
          <a:p>
            <a:endParaRPr kumimoji="1" lang="en-US" altLang="ja-JP"/>
          </a:p>
          <a:p>
            <a:endParaRPr lang="en-US" altLang="ja-JP"/>
          </a:p>
          <a:p>
            <a:r>
              <a:rPr lang="ja-JP" altLang="en-US"/>
              <a:t>・</a:t>
            </a:r>
            <a:r>
              <a:rPr lang="en-US" altLang="ja-JP"/>
              <a:t>R</a:t>
            </a:r>
            <a:r>
              <a:rPr lang="ja-JP" altLang="en-US"/>
              <a:t>での</a:t>
            </a:r>
            <a:r>
              <a:rPr lang="en-US" altLang="ja-JP"/>
              <a:t>ADF</a:t>
            </a:r>
            <a:r>
              <a:rPr lang="ja-JP" altLang="en-US"/>
              <a:t>検定</a:t>
            </a:r>
            <a:endParaRPr lang="en-US" altLang="ja-JP"/>
          </a:p>
          <a:p>
            <a:r>
              <a:rPr kumimoji="1" lang="ja-JP" altLang="en-US"/>
              <a:t>　→</a:t>
            </a:r>
            <a:r>
              <a:rPr kumimoji="1" lang="en-US" altLang="ja-JP"/>
              <a:t>R</a:t>
            </a:r>
            <a:r>
              <a:rPr lang="ja-JP" altLang="en-US"/>
              <a:t>で</a:t>
            </a:r>
            <a:r>
              <a:rPr lang="en-US" altLang="ja-JP"/>
              <a:t>ADF</a:t>
            </a:r>
            <a:r>
              <a:rPr lang="ja-JP" altLang="en-US"/>
              <a:t>検定を行う関数は</a:t>
            </a:r>
            <a:r>
              <a:rPr lang="en-US" altLang="ja-JP"/>
              <a:t>tseries</a:t>
            </a:r>
            <a:r>
              <a:rPr lang="ja-JP" altLang="en-US"/>
              <a:t>パッケージの</a:t>
            </a:r>
            <a:r>
              <a:rPr lang="en-US" altLang="ja-JP"/>
              <a:t>adf.test()</a:t>
            </a:r>
            <a:r>
              <a:rPr lang="ja-JP" altLang="en-US"/>
              <a:t>関数があるが、</a:t>
            </a:r>
            <a:r>
              <a:rPr lang="en-US" altLang="ja-JP"/>
              <a:t>drift</a:t>
            </a:r>
            <a:r>
              <a:rPr lang="ja-JP" altLang="en-US"/>
              <a:t>モデルしか選べないため、</a:t>
            </a:r>
            <a:endParaRPr lang="en-US" altLang="ja-JP"/>
          </a:p>
          <a:p>
            <a:r>
              <a:rPr lang="ja-JP" altLang="en-US"/>
              <a:t>　　今回は</a:t>
            </a:r>
            <a:r>
              <a:rPr lang="en-US" altLang="ja-JP"/>
              <a:t>urca</a:t>
            </a:r>
            <a:r>
              <a:rPr lang="ja-JP" altLang="en-US"/>
              <a:t>パッケージの</a:t>
            </a:r>
            <a:r>
              <a:rPr lang="en-US" altLang="ja-JP"/>
              <a:t>ur.df()</a:t>
            </a:r>
            <a:r>
              <a:rPr lang="ja-JP" altLang="en-US"/>
              <a:t>関数を使用する。</a:t>
            </a:r>
            <a:endParaRPr lang="en-US" altLang="ja-JP"/>
          </a:p>
          <a:p>
            <a:endParaRPr kumimoji="1" lang="en-US" altLang="ja-JP"/>
          </a:p>
          <a:p>
            <a:endParaRPr lang="en-US" altLang="ja-JP"/>
          </a:p>
          <a:p>
            <a:endParaRPr kumimoji="1" lang="en-US" altLang="ja-JP"/>
          </a:p>
          <a:p>
            <a:endParaRPr lang="en-US" altLang="ja-JP"/>
          </a:p>
          <a:p>
            <a:endParaRPr kumimoji="1" lang="ja-JP" altLang="en-US"/>
          </a:p>
        </p:txBody>
      </p:sp>
    </p:spTree>
    <p:extLst>
      <p:ext uri="{BB962C8B-B14F-4D97-AF65-F5344CB8AC3E}">
        <p14:creationId xmlns:p14="http://schemas.microsoft.com/office/powerpoint/2010/main" val="4136925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3C36972-4202-C0B3-DFF6-2C1F7A20F6DE}"/>
              </a:ext>
            </a:extLst>
          </p:cNvPr>
          <p:cNvSpPr>
            <a:spLocks noGrp="1"/>
          </p:cNvSpPr>
          <p:nvPr>
            <p:ph idx="1"/>
          </p:nvPr>
        </p:nvSpPr>
        <p:spPr/>
        <p:txBody>
          <a:bodyPr/>
          <a:lstStyle/>
          <a:p>
            <a:r>
              <a:rPr kumimoji="1" lang="ja-JP" altLang="en-US"/>
              <a:t>分析結果</a:t>
            </a:r>
          </a:p>
        </p:txBody>
      </p:sp>
      <p:sp>
        <p:nvSpPr>
          <p:cNvPr id="3" name="フッター プレースホルダー 2">
            <a:extLst>
              <a:ext uri="{FF2B5EF4-FFF2-40B4-BE49-F238E27FC236}">
                <a16:creationId xmlns:a16="http://schemas.microsoft.com/office/drawing/2014/main" id="{ED5F3CEB-2721-A4E5-91EA-2F59C193016A}"/>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D1688F09-D1E3-28D7-AC17-A794DE784064}"/>
              </a:ext>
            </a:extLst>
          </p:cNvPr>
          <p:cNvSpPr>
            <a:spLocks noGrp="1"/>
          </p:cNvSpPr>
          <p:nvPr>
            <p:ph type="sldNum" sz="quarter" idx="12"/>
          </p:nvPr>
        </p:nvSpPr>
        <p:spPr/>
        <p:txBody>
          <a:bodyPr/>
          <a:lstStyle/>
          <a:p>
            <a:fld id="{3B09FD7E-EA79-4AC9-B47C-47EE1A48B026}" type="slidenum">
              <a:rPr kumimoji="1" lang="ja-JP" altLang="en-US" smtClean="0"/>
              <a:t>21</a:t>
            </a:fld>
            <a:endParaRPr kumimoji="1" lang="ja-JP" altLang="en-US" dirty="0"/>
          </a:p>
        </p:txBody>
      </p:sp>
      <p:sp>
        <p:nvSpPr>
          <p:cNvPr id="5" name="タイトル 4">
            <a:extLst>
              <a:ext uri="{FF2B5EF4-FFF2-40B4-BE49-F238E27FC236}">
                <a16:creationId xmlns:a16="http://schemas.microsoft.com/office/drawing/2014/main" id="{8A5BC040-D2F5-35A5-5054-8DC0B899043F}"/>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9CDE2C72-CCED-91D4-9834-D54FF14F4A6A}"/>
              </a:ext>
            </a:extLst>
          </p:cNvPr>
          <p:cNvSpPr>
            <a:spLocks noGrp="1"/>
          </p:cNvSpPr>
          <p:nvPr>
            <p:ph sz="quarter" idx="13"/>
          </p:nvPr>
        </p:nvSpPr>
        <p:spPr/>
        <p:txBody>
          <a:bodyPr/>
          <a:lstStyle/>
          <a:p>
            <a:r>
              <a:rPr kumimoji="1" lang="ja-JP" altLang="en-US"/>
              <a:t>・</a:t>
            </a:r>
            <a:r>
              <a:rPr kumimoji="1" lang="en-US" altLang="ja-JP"/>
              <a:t>trend</a:t>
            </a:r>
            <a:r>
              <a:rPr kumimoji="1" lang="ja-JP" altLang="en-US"/>
              <a:t>モデル</a:t>
            </a:r>
            <a:endParaRPr kumimoji="1" lang="en-US" altLang="ja-JP"/>
          </a:p>
          <a:p>
            <a:endParaRPr lang="en-US" altLang="ja-JP"/>
          </a:p>
          <a:p>
            <a:endParaRPr kumimoji="1" lang="en-US" altLang="ja-JP"/>
          </a:p>
          <a:p>
            <a:endParaRPr lang="en-US" altLang="ja-JP"/>
          </a:p>
          <a:p>
            <a:r>
              <a:rPr lang="ja-JP" altLang="en-US"/>
              <a:t>・</a:t>
            </a:r>
            <a:r>
              <a:rPr lang="en-US" altLang="ja-JP"/>
              <a:t>drift</a:t>
            </a:r>
            <a:r>
              <a:rPr lang="ja-JP" altLang="en-US"/>
              <a:t>モデル</a:t>
            </a:r>
            <a:endParaRPr lang="en-US" altLang="ja-JP"/>
          </a:p>
          <a:p>
            <a:endParaRPr lang="en-US" altLang="ja-JP"/>
          </a:p>
          <a:p>
            <a:endParaRPr lang="en-US" altLang="ja-JP"/>
          </a:p>
          <a:p>
            <a:endParaRPr lang="en-US" altLang="ja-JP"/>
          </a:p>
          <a:p>
            <a:r>
              <a:rPr kumimoji="1" lang="ja-JP" altLang="en-US"/>
              <a:t>・</a:t>
            </a:r>
            <a:r>
              <a:rPr kumimoji="1" lang="en-US" altLang="ja-JP"/>
              <a:t>none</a:t>
            </a:r>
            <a:r>
              <a:rPr kumimoji="1" lang="ja-JP" altLang="en-US"/>
              <a:t>モデル</a:t>
            </a:r>
          </a:p>
        </p:txBody>
      </p:sp>
      <p:pic>
        <p:nvPicPr>
          <p:cNvPr id="7" name="図 6">
            <a:extLst>
              <a:ext uri="{FF2B5EF4-FFF2-40B4-BE49-F238E27FC236}">
                <a16:creationId xmlns:a16="http://schemas.microsoft.com/office/drawing/2014/main" id="{07518751-8B9E-5F0A-71F5-7FC346E91653}"/>
              </a:ext>
            </a:extLst>
          </p:cNvPr>
          <p:cNvPicPr>
            <a:picLocks noChangeAspect="1"/>
          </p:cNvPicPr>
          <p:nvPr/>
        </p:nvPicPr>
        <p:blipFill>
          <a:blip r:embed="rId3"/>
          <a:stretch>
            <a:fillRect/>
          </a:stretch>
        </p:blipFill>
        <p:spPr>
          <a:xfrm>
            <a:off x="1570264" y="1715984"/>
            <a:ext cx="7772400" cy="1107358"/>
          </a:xfrm>
          <a:prstGeom prst="rect">
            <a:avLst/>
          </a:prstGeom>
        </p:spPr>
      </p:pic>
      <p:pic>
        <p:nvPicPr>
          <p:cNvPr id="8" name="図 7">
            <a:extLst>
              <a:ext uri="{FF2B5EF4-FFF2-40B4-BE49-F238E27FC236}">
                <a16:creationId xmlns:a16="http://schemas.microsoft.com/office/drawing/2014/main" id="{6D38F8DD-A4AC-ACA9-A97F-639C07D05D1B}"/>
              </a:ext>
            </a:extLst>
          </p:cNvPr>
          <p:cNvPicPr>
            <a:picLocks noChangeAspect="1"/>
          </p:cNvPicPr>
          <p:nvPr/>
        </p:nvPicPr>
        <p:blipFill>
          <a:blip r:embed="rId4"/>
          <a:stretch>
            <a:fillRect/>
          </a:stretch>
        </p:blipFill>
        <p:spPr>
          <a:xfrm>
            <a:off x="1570264" y="3153306"/>
            <a:ext cx="7772400" cy="1265552"/>
          </a:xfrm>
          <a:prstGeom prst="rect">
            <a:avLst/>
          </a:prstGeom>
        </p:spPr>
      </p:pic>
      <p:pic>
        <p:nvPicPr>
          <p:cNvPr id="9" name="図 8">
            <a:extLst>
              <a:ext uri="{FF2B5EF4-FFF2-40B4-BE49-F238E27FC236}">
                <a16:creationId xmlns:a16="http://schemas.microsoft.com/office/drawing/2014/main" id="{2F4065AD-1559-57BF-22C3-BD98177417B3}"/>
              </a:ext>
            </a:extLst>
          </p:cNvPr>
          <p:cNvPicPr>
            <a:picLocks noChangeAspect="1"/>
          </p:cNvPicPr>
          <p:nvPr/>
        </p:nvPicPr>
        <p:blipFill>
          <a:blip r:embed="rId5"/>
          <a:stretch>
            <a:fillRect/>
          </a:stretch>
        </p:blipFill>
        <p:spPr>
          <a:xfrm>
            <a:off x="1580424" y="4605048"/>
            <a:ext cx="7239000" cy="1346200"/>
          </a:xfrm>
          <a:prstGeom prst="rect">
            <a:avLst/>
          </a:prstGeom>
        </p:spPr>
      </p:pic>
    </p:spTree>
    <p:extLst>
      <p:ext uri="{BB962C8B-B14F-4D97-AF65-F5344CB8AC3E}">
        <p14:creationId xmlns:p14="http://schemas.microsoft.com/office/powerpoint/2010/main" val="1739176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7432E4E-431E-DCC7-D5B8-1CD432B6C5A0}"/>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875B4B61-5B6D-9DA4-2616-DA804261B1FF}"/>
              </a:ext>
            </a:extLst>
          </p:cNvPr>
          <p:cNvSpPr>
            <a:spLocks noGrp="1"/>
          </p:cNvSpPr>
          <p:nvPr>
            <p:ph type="sldNum" sz="quarter" idx="12"/>
          </p:nvPr>
        </p:nvSpPr>
        <p:spPr/>
        <p:txBody>
          <a:bodyPr/>
          <a:lstStyle/>
          <a:p>
            <a:fld id="{3B09FD7E-EA79-4AC9-B47C-47EE1A48B026}" type="slidenum">
              <a:rPr kumimoji="1" lang="ja-JP" altLang="en-US" smtClean="0"/>
              <a:t>22</a:t>
            </a:fld>
            <a:endParaRPr kumimoji="1" lang="ja-JP" altLang="en-US" dirty="0"/>
          </a:p>
        </p:txBody>
      </p:sp>
      <p:sp>
        <p:nvSpPr>
          <p:cNvPr id="5" name="タイトル 4">
            <a:extLst>
              <a:ext uri="{FF2B5EF4-FFF2-40B4-BE49-F238E27FC236}">
                <a16:creationId xmlns:a16="http://schemas.microsoft.com/office/drawing/2014/main" id="{734D90E2-3642-EA62-8DAA-C8FAD20EEE34}"/>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96E2EE7B-99A5-0327-E503-3DB4B4DA8C09}"/>
              </a:ext>
            </a:extLst>
          </p:cNvPr>
          <p:cNvSpPr>
            <a:spLocks noGrp="1"/>
          </p:cNvSpPr>
          <p:nvPr>
            <p:ph sz="quarter" idx="13"/>
          </p:nvPr>
        </p:nvSpPr>
        <p:spPr>
          <a:xfrm>
            <a:off x="584778" y="1203939"/>
            <a:ext cx="11022443" cy="3449348"/>
          </a:xfrm>
        </p:spPr>
        <p:txBody>
          <a:bodyPr/>
          <a:lstStyle/>
          <a:p>
            <a:r>
              <a:rPr lang="ja-JP" altLang="en-US"/>
              <a:t>・</a:t>
            </a:r>
            <a:r>
              <a:rPr lang="en-US" altLang="ja-JP"/>
              <a:t>ADF</a:t>
            </a:r>
            <a:r>
              <a:rPr lang="ja-JP" altLang="en-US"/>
              <a:t>検定概要</a:t>
            </a:r>
            <a:endParaRPr lang="en-US" altLang="ja-JP"/>
          </a:p>
          <a:p>
            <a:endParaRPr lang="en-US" altLang="ja-JP"/>
          </a:p>
          <a:p>
            <a:endParaRPr lang="en-US" altLang="ja-JP"/>
          </a:p>
          <a:p>
            <a:endParaRPr lang="en-US" altLang="ja-JP"/>
          </a:p>
          <a:p>
            <a:endParaRPr lang="en-US" altLang="ja-JP"/>
          </a:p>
          <a:p>
            <a:r>
              <a:rPr lang="ja-JP" altLang="en-US"/>
              <a:t>・</a:t>
            </a:r>
            <a:r>
              <a:rPr lang="en-US" altLang="ja-JP"/>
              <a:t>phi</a:t>
            </a:r>
            <a:r>
              <a:rPr lang="ja-JP" altLang="en-US"/>
              <a:t>検定統計量を求めるための複合帰無仮説</a:t>
            </a:r>
            <a:endParaRPr lang="en-US" altLang="ja-JP"/>
          </a:p>
          <a:p>
            <a:r>
              <a:rPr lang="ja-JP" altLang="en-US"/>
              <a:t>　</a:t>
            </a:r>
            <a:endParaRPr lang="en-US" altLang="ja-JP"/>
          </a:p>
          <a:p>
            <a:r>
              <a:rPr lang="en-US" altLang="ja-JP"/>
              <a:t>     </a:t>
            </a:r>
            <a:r>
              <a:rPr lang="ja-JP" altLang="en-US"/>
              <a:t>→</a:t>
            </a:r>
            <a:r>
              <a:rPr lang="en-US" altLang="ja-JP"/>
              <a:t>trend</a:t>
            </a:r>
          </a:p>
          <a:p>
            <a:endParaRPr lang="en-US" altLang="ja-JP"/>
          </a:p>
          <a:p>
            <a:endParaRPr lang="en-US" altLang="ja-JP"/>
          </a:p>
          <a:p>
            <a:r>
              <a:rPr lang="en-US" altLang="ja-JP"/>
              <a:t>       </a:t>
            </a:r>
          </a:p>
          <a:p>
            <a:r>
              <a:rPr lang="en-US" altLang="ja-JP"/>
              <a:t>       drift</a:t>
            </a:r>
          </a:p>
          <a:p>
            <a:endParaRPr lang="en-US" altLang="ja-JP"/>
          </a:p>
        </p:txBody>
      </p:sp>
      <p:pic>
        <p:nvPicPr>
          <p:cNvPr id="7" name="図 6">
            <a:extLst>
              <a:ext uri="{FF2B5EF4-FFF2-40B4-BE49-F238E27FC236}">
                <a16:creationId xmlns:a16="http://schemas.microsoft.com/office/drawing/2014/main" id="{8FB0E066-47E4-7589-3608-C24D91CCE8CD}"/>
              </a:ext>
            </a:extLst>
          </p:cNvPr>
          <p:cNvPicPr>
            <a:picLocks noChangeAspect="1"/>
          </p:cNvPicPr>
          <p:nvPr/>
        </p:nvPicPr>
        <p:blipFill>
          <a:blip r:embed="rId2"/>
          <a:stretch>
            <a:fillRect/>
          </a:stretch>
        </p:blipFill>
        <p:spPr>
          <a:xfrm>
            <a:off x="2474685" y="1730253"/>
            <a:ext cx="2794000" cy="965200"/>
          </a:xfrm>
          <a:prstGeom prst="rect">
            <a:avLst/>
          </a:prstGeom>
        </p:spPr>
      </p:pic>
      <p:pic>
        <p:nvPicPr>
          <p:cNvPr id="8" name="図 7">
            <a:extLst>
              <a:ext uri="{FF2B5EF4-FFF2-40B4-BE49-F238E27FC236}">
                <a16:creationId xmlns:a16="http://schemas.microsoft.com/office/drawing/2014/main" id="{5F8C2909-6ECF-F619-34C9-A8E0206F7CBD}"/>
              </a:ext>
            </a:extLst>
          </p:cNvPr>
          <p:cNvPicPr>
            <a:picLocks noChangeAspect="1"/>
          </p:cNvPicPr>
          <p:nvPr/>
        </p:nvPicPr>
        <p:blipFill>
          <a:blip r:embed="rId3"/>
          <a:stretch>
            <a:fillRect/>
          </a:stretch>
        </p:blipFill>
        <p:spPr>
          <a:xfrm>
            <a:off x="976085" y="4136723"/>
            <a:ext cx="5791200" cy="431800"/>
          </a:xfrm>
          <a:prstGeom prst="rect">
            <a:avLst/>
          </a:prstGeom>
        </p:spPr>
      </p:pic>
      <p:pic>
        <p:nvPicPr>
          <p:cNvPr id="9" name="図 8">
            <a:extLst>
              <a:ext uri="{FF2B5EF4-FFF2-40B4-BE49-F238E27FC236}">
                <a16:creationId xmlns:a16="http://schemas.microsoft.com/office/drawing/2014/main" id="{E9969299-0852-CD4D-5BBC-E2529399975D}"/>
              </a:ext>
            </a:extLst>
          </p:cNvPr>
          <p:cNvPicPr>
            <a:picLocks noChangeAspect="1"/>
          </p:cNvPicPr>
          <p:nvPr/>
        </p:nvPicPr>
        <p:blipFill>
          <a:blip r:embed="rId4"/>
          <a:stretch>
            <a:fillRect/>
          </a:stretch>
        </p:blipFill>
        <p:spPr>
          <a:xfrm>
            <a:off x="976085" y="4782066"/>
            <a:ext cx="4292600" cy="431800"/>
          </a:xfrm>
          <a:prstGeom prst="rect">
            <a:avLst/>
          </a:prstGeom>
        </p:spPr>
      </p:pic>
      <p:pic>
        <p:nvPicPr>
          <p:cNvPr id="10" name="図 9">
            <a:extLst>
              <a:ext uri="{FF2B5EF4-FFF2-40B4-BE49-F238E27FC236}">
                <a16:creationId xmlns:a16="http://schemas.microsoft.com/office/drawing/2014/main" id="{6838B5F8-0860-8F16-7978-F2659B63B4C0}"/>
              </a:ext>
            </a:extLst>
          </p:cNvPr>
          <p:cNvPicPr>
            <a:picLocks noChangeAspect="1"/>
          </p:cNvPicPr>
          <p:nvPr/>
        </p:nvPicPr>
        <p:blipFill>
          <a:blip r:embed="rId5"/>
          <a:stretch>
            <a:fillRect/>
          </a:stretch>
        </p:blipFill>
        <p:spPr>
          <a:xfrm>
            <a:off x="976085" y="5856832"/>
            <a:ext cx="4292600" cy="431800"/>
          </a:xfrm>
          <a:prstGeom prst="rect">
            <a:avLst/>
          </a:prstGeom>
        </p:spPr>
      </p:pic>
      <p:sp>
        <p:nvSpPr>
          <p:cNvPr id="11" name="テキスト ボックス 10">
            <a:extLst>
              <a:ext uri="{FF2B5EF4-FFF2-40B4-BE49-F238E27FC236}">
                <a16:creationId xmlns:a16="http://schemas.microsoft.com/office/drawing/2014/main" id="{95C10ECA-6108-5BBA-1636-1224B08A7C6F}"/>
              </a:ext>
            </a:extLst>
          </p:cNvPr>
          <p:cNvSpPr txBox="1"/>
          <p:nvPr/>
        </p:nvSpPr>
        <p:spPr>
          <a:xfrm>
            <a:off x="7158592" y="4220332"/>
            <a:ext cx="2286000" cy="369332"/>
          </a:xfrm>
          <a:prstGeom prst="rect">
            <a:avLst/>
          </a:prstGeom>
          <a:noFill/>
        </p:spPr>
        <p:txBody>
          <a:bodyPr wrap="square" rtlCol="0">
            <a:spAutoFit/>
          </a:bodyPr>
          <a:lstStyle/>
          <a:p>
            <a:r>
              <a:rPr lang="en-US" altLang="ja-JP"/>
              <a:t>phi2</a:t>
            </a:r>
            <a:endParaRPr kumimoji="1" lang="ja-JP" altLang="en-US"/>
          </a:p>
        </p:txBody>
      </p:sp>
      <p:sp>
        <p:nvSpPr>
          <p:cNvPr id="12" name="テキスト ボックス 11">
            <a:extLst>
              <a:ext uri="{FF2B5EF4-FFF2-40B4-BE49-F238E27FC236}">
                <a16:creationId xmlns:a16="http://schemas.microsoft.com/office/drawing/2014/main" id="{E45E36FB-6113-E28E-B93E-5DE78B1ABF06}"/>
              </a:ext>
            </a:extLst>
          </p:cNvPr>
          <p:cNvSpPr txBox="1"/>
          <p:nvPr/>
        </p:nvSpPr>
        <p:spPr>
          <a:xfrm>
            <a:off x="7158592" y="4856843"/>
            <a:ext cx="2155371" cy="369332"/>
          </a:xfrm>
          <a:prstGeom prst="rect">
            <a:avLst/>
          </a:prstGeom>
          <a:noFill/>
        </p:spPr>
        <p:txBody>
          <a:bodyPr wrap="square" rtlCol="0">
            <a:spAutoFit/>
          </a:bodyPr>
          <a:lstStyle/>
          <a:p>
            <a:r>
              <a:rPr kumimoji="1" lang="en-US" altLang="ja-JP"/>
              <a:t>phi3</a:t>
            </a:r>
            <a:endParaRPr kumimoji="1" lang="ja-JP" altLang="en-US"/>
          </a:p>
        </p:txBody>
      </p:sp>
      <p:sp>
        <p:nvSpPr>
          <p:cNvPr id="13" name="テキスト ボックス 12">
            <a:extLst>
              <a:ext uri="{FF2B5EF4-FFF2-40B4-BE49-F238E27FC236}">
                <a16:creationId xmlns:a16="http://schemas.microsoft.com/office/drawing/2014/main" id="{47A561DC-AE29-587F-5074-5E02EC1592A5}"/>
              </a:ext>
            </a:extLst>
          </p:cNvPr>
          <p:cNvSpPr txBox="1"/>
          <p:nvPr/>
        </p:nvSpPr>
        <p:spPr>
          <a:xfrm>
            <a:off x="7158592" y="5919300"/>
            <a:ext cx="1143000" cy="369332"/>
          </a:xfrm>
          <a:prstGeom prst="rect">
            <a:avLst/>
          </a:prstGeom>
          <a:noFill/>
        </p:spPr>
        <p:txBody>
          <a:bodyPr wrap="square" rtlCol="0">
            <a:spAutoFit/>
          </a:bodyPr>
          <a:lstStyle/>
          <a:p>
            <a:r>
              <a:rPr kumimoji="1" lang="en-US" altLang="ja-JP"/>
              <a:t>phi1</a:t>
            </a:r>
            <a:endParaRPr kumimoji="1" lang="ja-JP" altLang="en-US"/>
          </a:p>
        </p:txBody>
      </p:sp>
    </p:spTree>
    <p:extLst>
      <p:ext uri="{BB962C8B-B14F-4D97-AF65-F5344CB8AC3E}">
        <p14:creationId xmlns:p14="http://schemas.microsoft.com/office/powerpoint/2010/main" val="2714317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325C43A-00A2-DA80-86EB-DAB768431109}"/>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F1DB7569-C7BB-125C-2733-44C830D4F5F3}"/>
              </a:ext>
            </a:extLst>
          </p:cNvPr>
          <p:cNvSpPr>
            <a:spLocks noGrp="1"/>
          </p:cNvSpPr>
          <p:nvPr>
            <p:ph type="sldNum" sz="quarter" idx="12"/>
          </p:nvPr>
        </p:nvSpPr>
        <p:spPr/>
        <p:txBody>
          <a:bodyPr/>
          <a:lstStyle/>
          <a:p>
            <a:fld id="{3B09FD7E-EA79-4AC9-B47C-47EE1A48B026}" type="slidenum">
              <a:rPr kumimoji="1" lang="ja-JP" altLang="en-US" smtClean="0"/>
              <a:t>23</a:t>
            </a:fld>
            <a:endParaRPr kumimoji="1" lang="ja-JP" altLang="en-US" dirty="0"/>
          </a:p>
        </p:txBody>
      </p:sp>
      <p:sp>
        <p:nvSpPr>
          <p:cNvPr id="5" name="タイトル 4">
            <a:extLst>
              <a:ext uri="{FF2B5EF4-FFF2-40B4-BE49-F238E27FC236}">
                <a16:creationId xmlns:a16="http://schemas.microsoft.com/office/drawing/2014/main" id="{20919DA1-CEE8-F6A9-9908-A79B08A37100}"/>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36E89DB0-675C-D471-0D02-BF803F310BFE}"/>
              </a:ext>
            </a:extLst>
          </p:cNvPr>
          <p:cNvSpPr>
            <a:spLocks noGrp="1"/>
          </p:cNvSpPr>
          <p:nvPr>
            <p:ph sz="quarter" idx="13"/>
          </p:nvPr>
        </p:nvSpPr>
        <p:spPr/>
        <p:txBody>
          <a:bodyPr/>
          <a:lstStyle/>
          <a:p>
            <a:r>
              <a:rPr lang="ja-JP" altLang="en-US"/>
              <a:t>・</a:t>
            </a:r>
            <a:r>
              <a:rPr lang="en-US" altLang="ja-JP"/>
              <a:t>ADF</a:t>
            </a:r>
            <a:r>
              <a:rPr lang="ja-JP" altLang="en-US"/>
              <a:t>検定実施結果</a:t>
            </a:r>
            <a:r>
              <a:rPr lang="en-US" altLang="ja-JP"/>
              <a:t>(</a:t>
            </a:r>
            <a:r>
              <a:rPr lang="ja-JP" altLang="en-US"/>
              <a:t>有意水準</a:t>
            </a:r>
            <a:r>
              <a:rPr lang="en-US" altLang="ja-JP"/>
              <a:t>5</a:t>
            </a:r>
            <a:r>
              <a:rPr lang="ja-JP" altLang="en-US"/>
              <a:t>％</a:t>
            </a:r>
            <a:r>
              <a:rPr lang="en-US" altLang="ja-JP"/>
              <a:t>)</a:t>
            </a:r>
          </a:p>
          <a:p>
            <a:r>
              <a:rPr lang="ja-JP" altLang="en-US"/>
              <a:t>　→結果は</a:t>
            </a:r>
            <a:r>
              <a:rPr lang="en-US" altLang="ja-JP"/>
              <a:t>Rstudio</a:t>
            </a:r>
            <a:r>
              <a:rPr lang="ja-JP" altLang="en-US"/>
              <a:t>で</a:t>
            </a:r>
            <a:endParaRPr lang="en-US" altLang="ja-JP"/>
          </a:p>
          <a:p>
            <a:r>
              <a:rPr lang="ja-JP" altLang="en-US"/>
              <a:t>　　　</a:t>
            </a:r>
            <a:endParaRPr lang="en-US" altLang="ja-JP"/>
          </a:p>
          <a:p>
            <a:r>
              <a:rPr kumimoji="1" lang="ja-JP" altLang="en-US"/>
              <a:t>　　</a:t>
            </a:r>
            <a:r>
              <a:rPr lang="en-US" altLang="ja-JP"/>
              <a:t>trend</a:t>
            </a:r>
            <a:r>
              <a:rPr lang="ja-JP" altLang="en-US"/>
              <a:t>結果</a:t>
            </a:r>
            <a:endParaRPr lang="en-US" altLang="ja-JP"/>
          </a:p>
          <a:p>
            <a:r>
              <a:rPr kumimoji="1" lang="ja-JP" altLang="en-US"/>
              <a:t>　　→</a:t>
            </a:r>
            <a:r>
              <a:rPr kumimoji="1" lang="en-US" altLang="ja-JP"/>
              <a:t>tau3</a:t>
            </a:r>
            <a:r>
              <a:rPr kumimoji="1" lang="ja-JP" altLang="en-US"/>
              <a:t>統計量が</a:t>
            </a:r>
            <a:r>
              <a:rPr kumimoji="1" lang="en-US" altLang="ja-JP"/>
              <a:t>-2,6402&gt;-3.41</a:t>
            </a:r>
            <a:r>
              <a:rPr kumimoji="1" lang="ja-JP" altLang="en-US"/>
              <a:t>より</a:t>
            </a:r>
            <a:r>
              <a:rPr lang="ja-JP" altLang="en-US"/>
              <a:t>帰無仮説を棄却できない。また</a:t>
            </a:r>
            <a:r>
              <a:rPr lang="en-US" altLang="ja-JP"/>
              <a:t>phi3</a:t>
            </a:r>
            <a:r>
              <a:rPr lang="ja-JP" altLang="en-US"/>
              <a:t>に関しても棄却することはできず、</a:t>
            </a:r>
            <a:endParaRPr lang="en-US" altLang="ja-JP"/>
          </a:p>
          <a:p>
            <a:r>
              <a:rPr lang="ja-JP" altLang="en-US"/>
              <a:t>　　　</a:t>
            </a:r>
            <a:r>
              <a:rPr lang="en-US" altLang="ja-JP"/>
              <a:t>drift</a:t>
            </a:r>
            <a:r>
              <a:rPr lang="ja-JP" altLang="en-US"/>
              <a:t>モデルに進む。</a:t>
            </a:r>
            <a:endParaRPr lang="en-US" altLang="ja-JP"/>
          </a:p>
          <a:p>
            <a:endParaRPr lang="en-US" altLang="ja-JP"/>
          </a:p>
          <a:p>
            <a:r>
              <a:rPr lang="ja-JP" altLang="en-US"/>
              <a:t>　　</a:t>
            </a:r>
            <a:r>
              <a:rPr lang="en-US" altLang="ja-JP"/>
              <a:t>drift</a:t>
            </a:r>
            <a:r>
              <a:rPr lang="ja-JP" altLang="en-US"/>
              <a:t>結果</a:t>
            </a:r>
            <a:endParaRPr lang="en-US" altLang="ja-JP"/>
          </a:p>
          <a:p>
            <a:r>
              <a:rPr lang="ja-JP" altLang="en-US"/>
              <a:t>　　→</a:t>
            </a:r>
            <a:r>
              <a:rPr lang="en-US" altLang="ja-JP"/>
              <a:t>tau2,phi1</a:t>
            </a:r>
            <a:r>
              <a:rPr lang="ja-JP" altLang="en-US"/>
              <a:t>ともに棄却できず。</a:t>
            </a:r>
            <a:r>
              <a:rPr lang="en-US" altLang="ja-JP"/>
              <a:t>None</a:t>
            </a:r>
            <a:r>
              <a:rPr lang="ja-JP" altLang="en-US"/>
              <a:t>に進む。</a:t>
            </a:r>
            <a:endParaRPr lang="en-US" altLang="ja-JP"/>
          </a:p>
          <a:p>
            <a:endParaRPr lang="en-US" altLang="ja-JP"/>
          </a:p>
          <a:p>
            <a:r>
              <a:rPr lang="ja-JP" altLang="en-US"/>
              <a:t>　　</a:t>
            </a:r>
            <a:r>
              <a:rPr lang="en-US" altLang="ja-JP"/>
              <a:t>none</a:t>
            </a:r>
            <a:r>
              <a:rPr lang="ja-JP" altLang="en-US"/>
              <a:t>結果</a:t>
            </a:r>
            <a:endParaRPr lang="en-US" altLang="ja-JP"/>
          </a:p>
          <a:p>
            <a:r>
              <a:rPr lang="ja-JP" altLang="en-US"/>
              <a:t>　　→</a:t>
            </a:r>
            <a:r>
              <a:rPr lang="en-US" altLang="ja-JP"/>
              <a:t>tau1</a:t>
            </a:r>
            <a:r>
              <a:rPr lang="ja-JP" altLang="en-US"/>
              <a:t>棄却できず。よってこのデータは非定常である。</a:t>
            </a:r>
            <a:endParaRPr lang="en-US" altLang="ja-JP"/>
          </a:p>
          <a:p>
            <a:endParaRPr kumimoji="1" lang="en-US" altLang="ja-JP"/>
          </a:p>
          <a:p>
            <a:endParaRPr kumimoji="1" lang="ja-JP" altLang="en-US"/>
          </a:p>
        </p:txBody>
      </p:sp>
    </p:spTree>
    <p:extLst>
      <p:ext uri="{BB962C8B-B14F-4D97-AF65-F5344CB8AC3E}">
        <p14:creationId xmlns:p14="http://schemas.microsoft.com/office/powerpoint/2010/main" val="481554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AE98D20-575D-8299-DF3A-BF591A67ED8E}"/>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6C80DB4E-D6A7-47BB-2494-C57D7F075976}"/>
              </a:ext>
            </a:extLst>
          </p:cNvPr>
          <p:cNvSpPr>
            <a:spLocks noGrp="1"/>
          </p:cNvSpPr>
          <p:nvPr>
            <p:ph type="sldNum" sz="quarter" idx="12"/>
          </p:nvPr>
        </p:nvSpPr>
        <p:spPr/>
        <p:txBody>
          <a:bodyPr/>
          <a:lstStyle/>
          <a:p>
            <a:fld id="{3B09FD7E-EA79-4AC9-B47C-47EE1A48B026}" type="slidenum">
              <a:rPr kumimoji="1" lang="ja-JP" altLang="en-US" smtClean="0"/>
              <a:t>24</a:t>
            </a:fld>
            <a:endParaRPr kumimoji="1" lang="ja-JP" altLang="en-US" dirty="0"/>
          </a:p>
        </p:txBody>
      </p:sp>
      <p:sp>
        <p:nvSpPr>
          <p:cNvPr id="5" name="タイトル 4">
            <a:extLst>
              <a:ext uri="{FF2B5EF4-FFF2-40B4-BE49-F238E27FC236}">
                <a16:creationId xmlns:a16="http://schemas.microsoft.com/office/drawing/2014/main" id="{07BF125F-095F-094A-4108-84E5AFA66AE4}"/>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E00F8618-C08E-1B79-9C3B-39B42C29B45E}"/>
              </a:ext>
            </a:extLst>
          </p:cNvPr>
          <p:cNvSpPr>
            <a:spLocks noGrp="1"/>
          </p:cNvSpPr>
          <p:nvPr>
            <p:ph sz="quarter" idx="13"/>
          </p:nvPr>
        </p:nvSpPr>
        <p:spPr/>
        <p:txBody>
          <a:bodyPr/>
          <a:lstStyle/>
          <a:p>
            <a:r>
              <a:rPr kumimoji="1" lang="ja-JP" altLang="en-US"/>
              <a:t>・差分を取って</a:t>
            </a:r>
            <a:r>
              <a:rPr kumimoji="1" lang="en-US" altLang="ja-JP"/>
              <a:t>ADF</a:t>
            </a:r>
            <a:r>
              <a:rPr kumimoji="1" lang="ja-JP" altLang="en-US"/>
              <a:t>検定　</a:t>
            </a:r>
            <a:endParaRPr kumimoji="1" lang="en-US" altLang="ja-JP"/>
          </a:p>
          <a:p>
            <a:r>
              <a:rPr lang="ja-JP" altLang="en-US"/>
              <a:t>　→非定常過程を定常化する方法として階差定常が挙げられる。また、 </a:t>
            </a:r>
            <a:r>
              <a:rPr lang="en-US" altLang="ja-JP"/>
              <a:t>d-1</a:t>
            </a:r>
            <a:r>
              <a:rPr lang="ja-JP" altLang="en-US"/>
              <a:t>次の階差を取った過程は非定常であるが、</a:t>
            </a:r>
            <a:endParaRPr lang="en-US" altLang="ja-JP"/>
          </a:p>
          <a:p>
            <a:r>
              <a:rPr kumimoji="1" lang="ja-JP" altLang="en-US"/>
              <a:t>　　</a:t>
            </a:r>
            <a:r>
              <a:rPr kumimoji="1" lang="en-US" altLang="ja-JP"/>
              <a:t>d</a:t>
            </a:r>
            <a:r>
              <a:rPr kumimoji="1" lang="ja-JP" altLang="en-US"/>
              <a:t>次の階差を取った過程が定常であるとき、過程は</a:t>
            </a:r>
            <a:r>
              <a:rPr kumimoji="1" lang="en-US" altLang="ja-JP"/>
              <a:t>d</a:t>
            </a:r>
            <a:r>
              <a:rPr kumimoji="1" lang="ja-JP" altLang="en-US"/>
              <a:t>次和分過程と呼び、</a:t>
            </a:r>
            <a:r>
              <a:rPr lang="en-US" altLang="ja-JP"/>
              <a:t>I(d)</a:t>
            </a:r>
            <a:r>
              <a:rPr lang="ja-JP" altLang="en-US"/>
              <a:t>過程と表記する。経済分野ではほとんど</a:t>
            </a:r>
            <a:endParaRPr lang="en-US" altLang="ja-JP"/>
          </a:p>
          <a:p>
            <a:r>
              <a:rPr lang="ja-JP" altLang="en-US"/>
              <a:t>　　の過程は</a:t>
            </a:r>
            <a:r>
              <a:rPr lang="en-US" altLang="ja-JP"/>
              <a:t>I(0)</a:t>
            </a:r>
            <a:r>
              <a:rPr lang="ja-JP" altLang="en-US"/>
              <a:t>過程や</a:t>
            </a:r>
            <a:r>
              <a:rPr lang="en-US" altLang="ja-JP"/>
              <a:t>I(1)</a:t>
            </a:r>
            <a:r>
              <a:rPr lang="ja-JP" altLang="en-US"/>
              <a:t>過程であり</a:t>
            </a:r>
            <a:r>
              <a:rPr lang="en-US" altLang="ja-JP"/>
              <a:t>I(2)</a:t>
            </a:r>
            <a:r>
              <a:rPr lang="ja-JP" altLang="en-US"/>
              <a:t>過程はきわめて稀である。　</a:t>
            </a:r>
            <a:endParaRPr lang="en-US" altLang="ja-JP"/>
          </a:p>
          <a:p>
            <a:endParaRPr lang="en-US" altLang="ja-JP"/>
          </a:p>
          <a:p>
            <a:r>
              <a:rPr lang="ja-JP" altLang="en-US"/>
              <a:t>　　</a:t>
            </a:r>
            <a:r>
              <a:rPr lang="en-US" altLang="ja-JP"/>
              <a:t>1</a:t>
            </a:r>
            <a:r>
              <a:rPr lang="ja-JP" altLang="en-US"/>
              <a:t>階差分をとって</a:t>
            </a:r>
            <a:r>
              <a:rPr lang="en-US" altLang="ja-JP"/>
              <a:t>ADF</a:t>
            </a:r>
            <a:r>
              <a:rPr lang="ja-JP" altLang="en-US"/>
              <a:t>検定を行い定常になったか確かめる。結果は</a:t>
            </a:r>
            <a:r>
              <a:rPr lang="en-US" altLang="ja-JP"/>
              <a:t>Rstudio</a:t>
            </a:r>
            <a:r>
              <a:rPr lang="ja-JP" altLang="en-US"/>
              <a:t>で</a:t>
            </a:r>
            <a:endParaRPr lang="en-US" altLang="ja-JP"/>
          </a:p>
          <a:p>
            <a:r>
              <a:rPr lang="ja-JP" altLang="en-US"/>
              <a:t>　　→定常化できた</a:t>
            </a:r>
            <a:endParaRPr lang="en-US" altLang="ja-JP"/>
          </a:p>
          <a:p>
            <a:r>
              <a:rPr kumimoji="1" lang="ja-JP" altLang="en-US"/>
              <a:t>　</a:t>
            </a:r>
          </a:p>
        </p:txBody>
      </p:sp>
    </p:spTree>
    <p:extLst>
      <p:ext uri="{BB962C8B-B14F-4D97-AF65-F5344CB8AC3E}">
        <p14:creationId xmlns:p14="http://schemas.microsoft.com/office/powerpoint/2010/main" val="2105781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BD77303-A255-A831-C45A-A9486D7A124F}"/>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078311FB-CE43-B407-12F7-51176F7E42D5}"/>
              </a:ext>
            </a:extLst>
          </p:cNvPr>
          <p:cNvSpPr>
            <a:spLocks noGrp="1"/>
          </p:cNvSpPr>
          <p:nvPr>
            <p:ph type="sldNum" sz="quarter" idx="12"/>
          </p:nvPr>
        </p:nvSpPr>
        <p:spPr/>
        <p:txBody>
          <a:bodyPr/>
          <a:lstStyle/>
          <a:p>
            <a:fld id="{3B09FD7E-EA79-4AC9-B47C-47EE1A48B026}" type="slidenum">
              <a:rPr kumimoji="1" lang="ja-JP" altLang="en-US" smtClean="0"/>
              <a:t>25</a:t>
            </a:fld>
            <a:endParaRPr kumimoji="1" lang="ja-JP" altLang="en-US" dirty="0"/>
          </a:p>
        </p:txBody>
      </p:sp>
      <p:sp>
        <p:nvSpPr>
          <p:cNvPr id="5" name="タイトル 4">
            <a:extLst>
              <a:ext uri="{FF2B5EF4-FFF2-40B4-BE49-F238E27FC236}">
                <a16:creationId xmlns:a16="http://schemas.microsoft.com/office/drawing/2014/main" id="{8FC73175-14F3-BF1B-09F2-90F235A382E3}"/>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C407012C-5CBC-6C45-8FD4-1F4A109643E8}"/>
              </a:ext>
            </a:extLst>
          </p:cNvPr>
          <p:cNvSpPr>
            <a:spLocks noGrp="1"/>
          </p:cNvSpPr>
          <p:nvPr>
            <p:ph sz="quarter" idx="13"/>
          </p:nvPr>
        </p:nvSpPr>
        <p:spPr/>
        <p:txBody>
          <a:bodyPr/>
          <a:lstStyle/>
          <a:p>
            <a:r>
              <a:rPr kumimoji="1" lang="en-US" altLang="ja-JP"/>
              <a:t>(3) </a:t>
            </a:r>
            <a:r>
              <a:rPr kumimoji="1" lang="ja-JP" altLang="en-US"/>
              <a:t>モデルの定義</a:t>
            </a:r>
            <a:endParaRPr kumimoji="1" lang="en-US" altLang="ja-JP"/>
          </a:p>
          <a:p>
            <a:r>
              <a:rPr lang="ja-JP" altLang="ja-JP"/>
              <a:t>時系列分析には確定的な方法と確率的な方法がある</a:t>
            </a:r>
          </a:p>
          <a:p>
            <a:r>
              <a:rPr lang="ja-JP" altLang="ja-JP"/>
              <a:t>確定的な方法→ある時点に於いて値そのものを推定する方法</a:t>
            </a:r>
          </a:p>
          <a:p>
            <a:r>
              <a:rPr lang="ja-JP" altLang="ja-JP"/>
              <a:t>確率的な方法→ある時点において様々な値が得られる不確実性を推定する方法</a:t>
            </a:r>
          </a:p>
          <a:p>
            <a:endParaRPr kumimoji="1" lang="en-US" altLang="ja-JP"/>
          </a:p>
          <a:p>
            <a:r>
              <a:rPr lang="ja-JP" altLang="en-US"/>
              <a:t>参考文献</a:t>
            </a:r>
            <a:endParaRPr lang="en-US" altLang="ja-JP"/>
          </a:p>
          <a:p>
            <a:r>
              <a:rPr lang="ja-JP" altLang="en-US"/>
              <a:t>　　　　　萩原 淳一郎 </a:t>
            </a:r>
            <a:r>
              <a:rPr lang="en-US" altLang="ja-JP"/>
              <a:t>, </a:t>
            </a:r>
            <a:r>
              <a:rPr lang="ja-JP" altLang="en-US"/>
              <a:t>瓜生 真也 </a:t>
            </a:r>
            <a:r>
              <a:rPr lang="en-US" altLang="ja-JP"/>
              <a:t>, </a:t>
            </a:r>
            <a:r>
              <a:rPr lang="ja-JP" altLang="en-US"/>
              <a:t>牧山 幸史 </a:t>
            </a:r>
            <a:r>
              <a:rPr lang="en-US" altLang="ja-JP"/>
              <a:t>, </a:t>
            </a:r>
            <a:r>
              <a:rPr lang="ja-JP" altLang="en-US"/>
              <a:t>基礎からわかる時系列分析 </a:t>
            </a:r>
            <a:r>
              <a:rPr lang="en-US" altLang="ja-JP"/>
              <a:t>―R</a:t>
            </a:r>
            <a:r>
              <a:rPr lang="ja-JP" altLang="en-US"/>
              <a:t>で実践するカルマンフィルタ・</a:t>
            </a:r>
            <a:r>
              <a:rPr lang="en-US" altLang="ja-JP"/>
              <a:t>MCMC</a:t>
            </a:r>
            <a:r>
              <a:rPr lang="ja-JP" altLang="en-US"/>
              <a:t>・</a:t>
            </a:r>
          </a:p>
          <a:p>
            <a:r>
              <a:rPr lang="ja-JP" altLang="en-US"/>
              <a:t>        　　　粒子フィルター</a:t>
            </a:r>
            <a:r>
              <a:rPr lang="en-US" altLang="ja-JP"/>
              <a:t>, </a:t>
            </a:r>
            <a:r>
              <a:rPr lang="ja-JP" altLang="en-US"/>
              <a:t>技術評論社</a:t>
            </a:r>
            <a:r>
              <a:rPr lang="en-US" altLang="ja-JP"/>
              <a:t>,  2018, 4p.</a:t>
            </a:r>
          </a:p>
          <a:p>
            <a:endParaRPr kumimoji="1" lang="en-US" altLang="ja-JP"/>
          </a:p>
          <a:p>
            <a:r>
              <a:rPr lang="ja-JP" altLang="ja-JP"/>
              <a:t>確定的な方法として本では移動平均法の一種であるホルト・ウィンスター法を使ったパラメータの推定が紹介されているが本データは非定常であるため相性が悪い。また、</a:t>
            </a:r>
            <a:r>
              <a:rPr lang="en-US" altLang="ja-JP"/>
              <a:t>R</a:t>
            </a:r>
            <a:r>
              <a:rPr lang="ja-JP" altLang="ja-JP"/>
              <a:t>の関数</a:t>
            </a:r>
            <a:r>
              <a:rPr lang="en-US" altLang="ja-JP"/>
              <a:t>HoltWinters()</a:t>
            </a:r>
            <a:r>
              <a:rPr lang="ja-JP" altLang="ja-JP"/>
              <a:t>が</a:t>
            </a:r>
            <a:r>
              <a:rPr lang="en-US" altLang="ja-JP"/>
              <a:t>ts</a:t>
            </a:r>
            <a:r>
              <a:rPr lang="ja-JP" altLang="ja-JP"/>
              <a:t>形式のデータを前提としているため扱いづらい。確率的な方法としては</a:t>
            </a:r>
            <a:r>
              <a:rPr lang="en-US" altLang="ja-JP"/>
              <a:t>ARMA,ARIMA</a:t>
            </a:r>
            <a:r>
              <a:rPr lang="ja-JP" altLang="ja-JP"/>
              <a:t>や状態空間モデルが紹介されており、今回のデータは非定常なデータであることを考慮して</a:t>
            </a:r>
            <a:r>
              <a:rPr lang="en-US" altLang="ja-JP"/>
              <a:t>ARIMA</a:t>
            </a:r>
            <a:r>
              <a:rPr lang="ja-JP" altLang="ja-JP"/>
              <a:t>モデルを採用する。</a:t>
            </a:r>
          </a:p>
          <a:p>
            <a:endParaRPr kumimoji="1" lang="ja-JP" altLang="en-US" b="1"/>
          </a:p>
        </p:txBody>
      </p:sp>
    </p:spTree>
    <p:extLst>
      <p:ext uri="{BB962C8B-B14F-4D97-AF65-F5344CB8AC3E}">
        <p14:creationId xmlns:p14="http://schemas.microsoft.com/office/powerpoint/2010/main" val="934669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A42A06C-0AD8-35C0-F974-7853731CA595}"/>
              </a:ext>
            </a:extLst>
          </p:cNvPr>
          <p:cNvSpPr>
            <a:spLocks noGrp="1"/>
          </p:cNvSpPr>
          <p:nvPr>
            <p:ph idx="1"/>
          </p:nvPr>
        </p:nvSpPr>
        <p:spPr/>
        <p:txBody>
          <a:bodyPr/>
          <a:lstStyle/>
          <a:p>
            <a:r>
              <a:rPr kumimoji="1" lang="ja-JP" altLang="en-US"/>
              <a:t>分析結果</a:t>
            </a:r>
          </a:p>
        </p:txBody>
      </p:sp>
      <p:sp>
        <p:nvSpPr>
          <p:cNvPr id="4" name="スライド番号プレースホルダー 3">
            <a:extLst>
              <a:ext uri="{FF2B5EF4-FFF2-40B4-BE49-F238E27FC236}">
                <a16:creationId xmlns:a16="http://schemas.microsoft.com/office/drawing/2014/main" id="{CA1BC298-0C1C-3A82-B68C-0A6F79A98F68}"/>
              </a:ext>
            </a:extLst>
          </p:cNvPr>
          <p:cNvSpPr>
            <a:spLocks noGrp="1"/>
          </p:cNvSpPr>
          <p:nvPr>
            <p:ph type="sldNum" sz="quarter" idx="12"/>
          </p:nvPr>
        </p:nvSpPr>
        <p:spPr/>
        <p:txBody>
          <a:bodyPr/>
          <a:lstStyle/>
          <a:p>
            <a:fld id="{3B09FD7E-EA79-4AC9-B47C-47EE1A48B026}" type="slidenum">
              <a:rPr kumimoji="1" lang="ja-JP" altLang="en-US" smtClean="0"/>
              <a:t>26</a:t>
            </a:fld>
            <a:endParaRPr kumimoji="1" lang="ja-JP" altLang="en-US" dirty="0"/>
          </a:p>
        </p:txBody>
      </p:sp>
      <p:sp>
        <p:nvSpPr>
          <p:cNvPr id="5" name="タイトル 4">
            <a:extLst>
              <a:ext uri="{FF2B5EF4-FFF2-40B4-BE49-F238E27FC236}">
                <a16:creationId xmlns:a16="http://schemas.microsoft.com/office/drawing/2014/main" id="{ADF4A8C9-0FB9-9C08-6F75-59060C28E578}"/>
              </a:ext>
            </a:extLst>
          </p:cNvPr>
          <p:cNvSpPr>
            <a:spLocks noGrp="1"/>
          </p:cNvSpPr>
          <p:nvPr>
            <p:ph type="title"/>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4BBB3EBD-FE8C-131E-D5A3-71115017F214}"/>
              </a:ext>
            </a:extLst>
          </p:cNvPr>
          <p:cNvSpPr>
            <a:spLocks noGrp="1"/>
          </p:cNvSpPr>
          <p:nvPr>
            <p:ph sz="quarter" idx="13"/>
          </p:nvPr>
        </p:nvSpPr>
        <p:spPr/>
        <p:txBody>
          <a:bodyPr/>
          <a:lstStyle/>
          <a:p>
            <a:r>
              <a:rPr kumimoji="1" lang="ja-JP" altLang="en-US"/>
              <a:t>・</a:t>
            </a:r>
            <a:r>
              <a:rPr kumimoji="1" lang="en-US" altLang="ja-JP"/>
              <a:t>ARIMA</a:t>
            </a:r>
            <a:endParaRPr lang="en-US" altLang="ja-JP"/>
          </a:p>
          <a:p>
            <a:endParaRPr lang="en-US" altLang="ja-JP"/>
          </a:p>
          <a:p>
            <a:endParaRPr lang="en-US" altLang="ja-JP"/>
          </a:p>
          <a:p>
            <a:endParaRPr lang="en-US" altLang="ja-JP"/>
          </a:p>
          <a:p>
            <a:r>
              <a:rPr lang="ja-JP" altLang="en-US"/>
              <a:t>・実行結果は</a:t>
            </a:r>
            <a:r>
              <a:rPr lang="en-US" altLang="ja-JP"/>
              <a:t>Rstudio</a:t>
            </a:r>
            <a:r>
              <a:rPr lang="ja-JP" altLang="en-US"/>
              <a:t>で</a:t>
            </a:r>
            <a:endParaRPr lang="en-US" altLang="ja-JP"/>
          </a:p>
          <a:p>
            <a:endParaRPr kumimoji="1" lang="en-US" altLang="ja-JP"/>
          </a:p>
          <a:p>
            <a:endParaRPr kumimoji="1" lang="ja-JP" altLang="en-US"/>
          </a:p>
        </p:txBody>
      </p:sp>
      <p:pic>
        <p:nvPicPr>
          <p:cNvPr id="8" name="図 7">
            <a:extLst>
              <a:ext uri="{FF2B5EF4-FFF2-40B4-BE49-F238E27FC236}">
                <a16:creationId xmlns:a16="http://schemas.microsoft.com/office/drawing/2014/main" id="{C1862183-4B5F-1888-9752-1B92300D1A91}"/>
              </a:ext>
            </a:extLst>
          </p:cNvPr>
          <p:cNvPicPr>
            <a:picLocks noChangeAspect="1"/>
          </p:cNvPicPr>
          <p:nvPr/>
        </p:nvPicPr>
        <p:blipFill>
          <a:blip r:embed="rId2"/>
          <a:stretch>
            <a:fillRect/>
          </a:stretch>
        </p:blipFill>
        <p:spPr>
          <a:xfrm>
            <a:off x="1328057" y="2460657"/>
            <a:ext cx="7772400" cy="235329"/>
          </a:xfrm>
          <a:prstGeom prst="rect">
            <a:avLst/>
          </a:prstGeom>
        </p:spPr>
      </p:pic>
    </p:spTree>
    <p:extLst>
      <p:ext uri="{BB962C8B-B14F-4D97-AF65-F5344CB8AC3E}">
        <p14:creationId xmlns:p14="http://schemas.microsoft.com/office/powerpoint/2010/main" val="790555813"/>
      </p:ext>
    </p:extLst>
  </p:cSld>
  <p:clrMapOvr>
    <a:masterClrMapping/>
  </p:clrMapOvr>
</p:sld>
</file>

<file path=ppt/theme/theme1.xml><?xml version="1.0" encoding="utf-8"?>
<a:theme xmlns:a="http://schemas.openxmlformats.org/drawingml/2006/main" name="Xテーマ">
  <a:themeElements>
    <a:clrScheme name="ユーザー定義 1">
      <a:dk1>
        <a:sysClr val="windowText" lastClr="000000"/>
      </a:dk1>
      <a:lt1>
        <a:sysClr val="window" lastClr="FFFFFF"/>
      </a:lt1>
      <a:dk2>
        <a:srgbClr val="70B437"/>
      </a:dk2>
      <a:lt2>
        <a:srgbClr val="E7E6E6"/>
      </a:lt2>
      <a:accent1>
        <a:srgbClr val="C3D60B"/>
      </a:accent1>
      <a:accent2>
        <a:srgbClr val="0079C2"/>
      </a:accent2>
      <a:accent3>
        <a:srgbClr val="5DB6E7"/>
      </a:accent3>
      <a:accent4>
        <a:srgbClr val="FFC000"/>
      </a:accent4>
      <a:accent5>
        <a:srgbClr val="176871"/>
      </a:accent5>
      <a:accent6>
        <a:srgbClr val="F27750"/>
      </a:accent6>
      <a:hlink>
        <a:srgbClr val="0563C1"/>
      </a:hlink>
      <a:folHlink>
        <a:srgbClr val="954F72"/>
      </a:folHlink>
    </a:clrScheme>
    <a:fontScheme name="ユーザー定義 2">
      <a:majorFont>
        <a:latin typeface="Noto Sans JP SemiBold"/>
        <a:ea typeface="Noto Sans JP SemiBold"/>
        <a:cs typeface=""/>
      </a:majorFont>
      <a:minorFont>
        <a:latin typeface="Noto Sans JP SemiBold"/>
        <a:ea typeface="Noto Sans JP Semi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t">
        <a:spAutoFit/>
      </a:bodyPr>
      <a:lstStyle>
        <a:defPPr marL="144000" indent="-144000" algn="l">
          <a:lnSpc>
            <a:spcPct val="110000"/>
          </a:lnSpc>
          <a:spcAft>
            <a:spcPts val="500"/>
          </a:spcAft>
          <a:buFont typeface="Arial" panose="020B0604020202020204" pitchFamily="34" charset="0"/>
          <a:buChar char="•"/>
          <a:defRPr sz="1200" dirty="0">
            <a:solidFill>
              <a:srgbClr val="000000"/>
            </a:solidFill>
            <a:latin typeface="Arial" panose="020B060402020202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プレゼンテーション1" id="{2E2C0595-E47A-4072-8EF5-4FB31759DD55}" vid="{8E82AA9C-B2AA-4EBF-BE83-590FCDA0E53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基本のテンプレート2</Template>
  <TotalTime>1482</TotalTime>
  <Words>1950</Words>
  <Application>Microsoft Macintosh PowerPoint</Application>
  <PresentationFormat>ワイド画面</PresentationFormat>
  <Paragraphs>287</Paragraphs>
  <Slides>26</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26</vt:i4>
      </vt:variant>
    </vt:vector>
  </HeadingPairs>
  <TitlesOfParts>
    <vt:vector size="31" baseType="lpstr">
      <vt:lpstr>Yu Gothic UI</vt:lpstr>
      <vt:lpstr>游ゴシック</vt:lpstr>
      <vt:lpstr>Arial</vt:lpstr>
      <vt:lpstr>Cambria Math</vt:lpstr>
      <vt:lpstr>Xテーマ</vt:lpstr>
      <vt:lpstr>進捗報告</vt:lpstr>
      <vt:lpstr>PowerPoint プレゼンテーション</vt:lpstr>
      <vt:lpstr>現在の進捗</vt:lpstr>
      <vt:lpstr>PowerPoint プレゼンテーション</vt:lpstr>
      <vt:lpstr>分析結果</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Mugi.pptx</dc:creator>
  <cp:lastModifiedBy>r m</cp:lastModifiedBy>
  <cp:revision>20</cp:revision>
  <dcterms:created xsi:type="dcterms:W3CDTF">2024-05-07T10:06:11Z</dcterms:created>
  <dcterms:modified xsi:type="dcterms:W3CDTF">2025-10-13T03:57:59Z</dcterms:modified>
</cp:coreProperties>
</file>